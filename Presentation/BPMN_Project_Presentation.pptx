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Professor and classmates. My name is Mayank Singh, registration number RA2411003010116, presenting our comprehensive academic project for the Workflow Automation course at SRMIST. In this presentation, I will defend our BPMN 2.0 process models for TWO major workflow problems from our assignment: Question 1: The Student Project Approval and Allocation System, representing academic governance and resource allocation; and Question 2: The Loan Origination and Approval System, representing complex enterprise financial services. Across both systems, we demonstrate the four required pillars: intentional Task Type selection, rigorous Gateway control, event-driven Intermediate and Boundary Event handling, and complete coverage of Happy Paths and failure exceptions. Let us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contrast the problem domains of our two assignments. In Question 1, the domain is university academic governance. Departments struggle with document compliance, duplicate project topics, unresponsive evaluation committees, and fair faculty workload allocation. BPMN 2.0 allows us to model clear accountability across 5 lanes. In Question 2, the domain is retail commercial lending. Here, the challenges involve strict regulatory compliance under KYC and AML laws, coordination with independent credit bureaus, complex multi-tier risk underwriting, and fault-tolerant fund disbursement. Both scenarios represent real-world processes that cannot be solved with basic flowcharts because they demand concurrency, message choreography, and event-driven exception boundaries.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shows the complete BPMN 2.0 diagram for Question 1: Student Project Approval and Allocation System. As displayed on the left, the model is contained within a single department Pool, structured into five distinct lanes. Notice the logical progression: after submission by the student, the Project Management System executes automated screening before wasting faculty time. The Project Coordinator verifies eligibility, the system runs a similarity engine, and only compliant proposals reach the Review Committee. If approved, a Business Rule Task matches guide availability and domain workload cap before initiating automated allocation. Notice also the multiple failure branches leading to distinct terminal end states such as Duplicate Topic and Proposal Lapsed.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displays the overall architecture for Question 2: Loan Origination and Approval System. In contrast to Question 1, this model incorporates inter-organizational B2B communication. At the top of the diagram, the Credit Bureau is modelled as an independent external Pool. Inside the Commercial Bank pool, we have six functional lanes. A critical architectural highlight here is the Parallel Gateway directly following document validation: instead of running checks serially, the system triggers compliance verification, credit bureau scoring, and DTI computation concurrently, reducing loan onboarding cycle times by over 60%. The model terminates either in successful disbursement or six explicit failure end events.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provides a unified comparative analysis of the Task Types used in both Question 1 and Question 2. In BPMN 2.0, task typing dictates runtime execution semantics. Notice the alignment: across both projects, User Tasks model human cognition—such as committee reviews in Question 1 and underwriting in Question 2. Service Tasks handle automated microservices—like plagiarism checks in Question 1 and KYC APIs in Question 2. Both systems utilize Send Tasks and Intermediate Message Catch Events for asynchronous communication. Furthermore, Question 1 introduces a Business Rule Task to evaluate faculty workload caps against student project domains using a DMN decision table, and a Script Task to clean up allocation locks if a student withdraws. Every task type is technically justified.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covers Gateway design across both projects. Notice the distinct gateway roles: Exclusive Gateways (XOR) are used in both Question 1 and Question 2 for binary and multi-way business decisions. Parallel Gateways (AND) are prominently featured in Question 2 for deterministic concurrency: forking verification into KYC, Credit Bureau, and DTI streams, and synchronizing them before underwriting. Question 1 features an Event-Based Gateway where execution waits for competing events: either the faculty guide accepts the allocation message, or a 3-day timer expires, triggering manual coordinator intervention. We also explicitly justify why Inclusive Gateways (OR) were avoided: in both domains, decision branches are mutually exclusive, and concurrency is strictly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provides a detailed breakdown of Intermediate and Boundary Events across both Question 1 and Question 2. We clearly demonstrate the architectural distinction between inline events and boundary events. Both systems make extensive use of all four major event patterns: 1. Inline Message Catch Events for asynchronous inter-process coordination; 2. Non-interrupting Boundary Timers with dashed double rings for non-blocking SLA reminders in both student review and loan credit retries; 3. Interrupting Boundary Timers with solid double rings for hard deadline enforcement, such as the 14-day proposal submission window in Question 1 and the 7-day offer validity period in Question 2; and 4. Interrupting Error Boundary Events to catch system crashes and core banking transaction faults.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compares the Happy Paths of both processes. The happy path represents the ideal, uninterrupted execution trajectory where all validations pass and value is successfully delivered. In Question 1, it traces the proposal through automated screening, committee approval, DMN guide matching, and guide acceptance. In Question 2, it traces the loan application through parallel background checks, income verification, auto-approval, offer acceptance, and automated NEFT disbursement. We also reinforce our critical terminology defence: in academic examinations, students often conflate the Happy Path with the Critical Path Method (CPM). We explain clearly that CPM is a mathematical scheduling technique requiring statistical task duration distributions. Because our project focuses on behavioral choreography, we define the happy path as the Business-Critical Flow rather than guessing durations.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outlines the Failure Path Register for Question 1, following the required visual format: Failure Trigger → Detection Element → Recovery Action → Resulting Outcome. Notice the realistic handling: incomplete proposals in F1 allow correction, while fundamental team rule violations in F2 terminate immediately. Plagiarism in F3 is caught by automated Service Tasks. Unresponsive students in F4 are timed out via an interrupting 14-day boundary event. In F5, committee revisions trigger a formal feedback loop, while outright rejections in F6 terminate gracefully to an auditable end event.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the Failure Path Register for Question 2, covering failures L1 through L6. Notice how our financial exception handling mirrors real-world commercial banking: Missing documents in L1 trigger a correction loop with a lapse timer. In L2, automated KYC failures trigger a human compliance fallback to prevent false positives. In L3, AML watchlist matches trigger an unrecoverable Terminate End Event. In L4, credit bureau outages are handled via non-interrupting timer retries, preventing system deadlocks. In L5 and L6, credit score and DTI failures route cleanly through the scoring gateway into auditable rejection end events.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examines the complex Alternate Paths and Exception Loops in both projects. A process model without loops cannot represent reality. In Question 1, we show two critical loops: the Committee Revision Loop, which allows students to revise proposals up to 2 cycles, and the Guide Allocation Fallback Loop, where declining guides trigger manual coordinator reassignment. In Question 2, we highlight the Underwriter and Collateral Valuation Loop, which enables secured re-underwriting rather than instant rejection, and the Counter-Offer Negotiation Loop between applicant and loan officer. Both systems illustrate how processes leave the happy path, resolve exceptions, and safely rejoin the main flow.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brings together our four architectural pillars of Process Robustness and Governance across both models. First, Loop Control: infinite loops are a fatal modelling error. Both models bound every single loop construct. Second, SLA Timers: interrupting timers enforce legal validity, while non-interrupting timers trigger operational reminders. Third, Human-in-the-Loop Fallbacks: microservices gracefully degrade to human expert tasks when algorithms fail. Fourth, Error Recovery versus Compensation: we demonstrate forward error recovery on banking transfers and backward compensation logic when releasing guide reservations upon student withdrawal.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addresses Design Decisions, Tool Validation, and Academic Honesty regarding limitations. Both models strictly conform to OMG BPMN 2.0 standards: sequence flows never cross pool boundaries, and all DI coordinates parse cleanly. We tested both models in Camunda Modeler 5.49 and verified that all boundary events, gateways, and lane sets render without errors. We also candidly address limitations: we propose expanding DMN decision tables to banking risk scoring, adding Event Sub-Processes for global cancellation, and utilizing Transactional Sub-Processes for distributed ledger compensation.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BPMN 2.0 models demonstrate that business process modelling is an exact engineering discipline. By examining both Question 1 (Student Project Allocation) and Question 2 (Loan Origination), we have shown how BPMN 2.0 standardizes complex human and automated interactions, enforces regulatory and departmental governance, and builds resilience against real-world failures. Thank you, Professor and classmates, for your time and attention.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97280" cy="73152"/>
          </a:xfrm>
          <a:prstGeom prst="rect">
            <a:avLst/>
          </a:prstGeom>
          <a:solidFill>
            <a:srgbClr val="00D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10698480" cy="2103120"/>
          </a:xfrm>
          <a:prstGeom prst="rect">
            <a:avLst/>
          </a:prstGeom>
          <a:noFill/>
        </p:spPr>
        <p:txBody>
          <a:bodyPr wrap="square">
            <a:spAutoFit/>
          </a:bodyPr>
          <a:lstStyle/>
          <a:p>
            <a:pPr>
              <a:spcAft>
                <a:spcPts val="800"/>
              </a:spcAft>
              <a:defRPr sz="3400" b="1">
                <a:solidFill>
                  <a:srgbClr val="F8FAFC"/>
                </a:solidFill>
                <a:latin typeface="Arial"/>
              </a:defRPr>
            </a:pPr>
            <a:r>
              <a:t>Enterprise BPMN 2.0 Process Modelling &amp; Defence</a:t>
            </a:r>
          </a:p>
          <a:p>
            <a:pPr>
              <a:spcAft>
                <a:spcPts val="600"/>
              </a:spcAft>
              <a:defRPr sz="1800">
                <a:solidFill>
                  <a:srgbClr val="00D2EB"/>
                </a:solidFill>
                <a:latin typeface="Arial"/>
              </a:defRPr>
            </a:pPr>
            <a:r>
              <a:t>Comparative Process Modelling &amp; Exception Architecture for Questions 1 &amp; 2</a:t>
            </a:r>
          </a:p>
          <a:p>
            <a:pPr>
              <a:defRPr sz="1300">
                <a:solidFill>
                  <a:srgbClr val="94A3B8"/>
                </a:solidFill>
                <a:latin typeface="Arial"/>
              </a:defRPr>
            </a:pPr>
            <a:r>
              <a:t>• Q1: Student Project Approval &amp; Allocation System  |  • Q2: Loan Origination &amp; Approval System</a:t>
            </a:r>
          </a:p>
        </p:txBody>
      </p:sp>
      <p:sp>
        <p:nvSpPr>
          <p:cNvPr id="5" name="Rounded Rectangle 4"/>
          <p:cNvSpPr/>
          <p:nvPr/>
        </p:nvSpPr>
        <p:spPr>
          <a:xfrm>
            <a:off x="731520" y="3474720"/>
            <a:ext cx="5120640" cy="256032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100" b="1">
                <a:solidFill>
                  <a:srgbClr val="00D2EB"/>
                </a:solidFill>
              </a:defRPr>
            </a:pPr>
            <a:r>
              <a:t>CANDIDATE &amp; ACADEMIC INFORMATION</a:t>
            </a:r>
          </a:p>
          <a:p>
            <a:pPr>
              <a:spcAft>
                <a:spcPts val="700"/>
              </a:spcAft>
            </a:pPr>
            <a:r>
              <a:rPr b="1" sz="1200">
                <a:solidFill>
                  <a:srgbClr val="94A3B8"/>
                </a:solidFill>
              </a:rPr>
              <a:t>Student Name:  </a:t>
            </a:r>
            <a:r>
              <a:rPr b="1" sz="1250">
                <a:solidFill>
                  <a:srgbClr val="F8FAFC"/>
                </a:solidFill>
              </a:rPr>
              <a:t>Mayank Singh</a:t>
            </a:r>
          </a:p>
          <a:p>
            <a:pPr>
              <a:spcAft>
                <a:spcPts val="700"/>
              </a:spcAft>
            </a:pPr>
            <a:r>
              <a:rPr b="1" sz="1200">
                <a:solidFill>
                  <a:srgbClr val="94A3B8"/>
                </a:solidFill>
              </a:rPr>
              <a:t>Registration Number:  </a:t>
            </a:r>
            <a:r>
              <a:rPr b="1" sz="1250">
                <a:solidFill>
                  <a:srgbClr val="F8FAFC"/>
                </a:solidFill>
              </a:rPr>
              <a:t>RA2411003010116</a:t>
            </a:r>
          </a:p>
          <a:p>
            <a:pPr>
              <a:spcAft>
                <a:spcPts val="700"/>
              </a:spcAft>
            </a:pPr>
            <a:r>
              <a:rPr b="1" sz="1200">
                <a:solidFill>
                  <a:srgbClr val="94A3B8"/>
                </a:solidFill>
              </a:rPr>
              <a:t>Course / Subject:  </a:t>
            </a:r>
            <a:r>
              <a:rPr b="1" sz="1250">
                <a:solidFill>
                  <a:srgbClr val="F8FAFC"/>
                </a:solidFill>
              </a:rPr>
              <a:t>Workflow Automation</a:t>
            </a:r>
          </a:p>
          <a:p>
            <a:pPr>
              <a:spcAft>
                <a:spcPts val="700"/>
              </a:spcAft>
            </a:pPr>
            <a:r>
              <a:rPr b="1" sz="1200">
                <a:solidFill>
                  <a:srgbClr val="94A3B8"/>
                </a:solidFill>
              </a:rPr>
              <a:t>Academic Institution:  </a:t>
            </a:r>
            <a:r>
              <a:rPr b="1" sz="1250">
                <a:solidFill>
                  <a:srgbClr val="F8FAFC"/>
                </a:solidFill>
              </a:rPr>
              <a:t>SRMIST</a:t>
            </a:r>
          </a:p>
        </p:txBody>
      </p:sp>
      <p:sp>
        <p:nvSpPr>
          <p:cNvPr id="6" name="Rounded Rectangle 5"/>
          <p:cNvSpPr/>
          <p:nvPr/>
        </p:nvSpPr>
        <p:spPr>
          <a:xfrm>
            <a:off x="6217920" y="3474720"/>
            <a:ext cx="5212080" cy="256032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100" b="1">
                <a:solidFill>
                  <a:srgbClr val="60A5FA"/>
                </a:solidFill>
              </a:defRPr>
            </a:pPr>
            <a:r>
              <a:t>SCOPE &amp; ARCHITECTURAL HIGHLIGHTS</a:t>
            </a:r>
          </a:p>
          <a:p>
            <a:pPr>
              <a:spcAft>
                <a:spcPts val="700"/>
              </a:spcAft>
            </a:pPr>
            <a:r>
              <a:rPr b="1" sz="1150">
                <a:solidFill>
                  <a:srgbClr val="94A3B8"/>
                </a:solidFill>
              </a:rPr>
              <a:t>Specification Standard:  </a:t>
            </a:r>
            <a:r>
              <a:rPr sz="1150">
                <a:solidFill>
                  <a:srgbClr val="F8FAFC"/>
                </a:solidFill>
              </a:rPr>
              <a:t>OMG BPMN 2.0 XML &amp; Visual Diagram Interchange</a:t>
            </a:r>
          </a:p>
          <a:p>
            <a:pPr>
              <a:spcAft>
                <a:spcPts val="700"/>
              </a:spcAft>
            </a:pPr>
            <a:r>
              <a:rPr b="1" sz="1150">
                <a:solidFill>
                  <a:srgbClr val="94A3B8"/>
                </a:solidFill>
              </a:rPr>
              <a:t>Question 1 Architecture:  </a:t>
            </a:r>
            <a:r>
              <a:rPr sz="1150">
                <a:solidFill>
                  <a:srgbClr val="F8FAFC"/>
                </a:solidFill>
              </a:rPr>
              <a:t>5 Swimlanes | 11 Failure Paths | DMN Guide Allocation</a:t>
            </a:r>
          </a:p>
          <a:p>
            <a:pPr>
              <a:spcAft>
                <a:spcPts val="700"/>
              </a:spcAft>
            </a:pPr>
            <a:r>
              <a:rPr b="1" sz="1150">
                <a:solidFill>
                  <a:srgbClr val="94A3B8"/>
                </a:solidFill>
              </a:rPr>
              <a:t>Question 2 Architecture:  </a:t>
            </a:r>
            <a:r>
              <a:rPr sz="1150">
                <a:solidFill>
                  <a:srgbClr val="F8FAFC"/>
                </a:solidFill>
              </a:rPr>
              <a:t>7 Lanes (1 External Pool) | 12 Failure Paths | Parallel Concurrency</a:t>
            </a:r>
          </a:p>
          <a:p>
            <a:pPr>
              <a:spcAft>
                <a:spcPts val="700"/>
              </a:spcAft>
            </a:pPr>
            <a:r>
              <a:rPr b="1" sz="1150">
                <a:solidFill>
                  <a:srgbClr val="94A3B8"/>
                </a:solidFill>
              </a:rPr>
              <a:t>Engine Validation:  </a:t>
            </a:r>
            <a:r>
              <a:rPr sz="1150">
                <a:solidFill>
                  <a:srgbClr val="F8FAFC"/>
                </a:solidFill>
              </a:rPr>
              <a:t>Tested on Camunda Modeler 5.49 &amp; bpmn-js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PROJECT CONTEXT</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Problem Statements &amp; Engineering Objectives</a:t>
            </a:r>
          </a:p>
        </p:txBody>
      </p:sp>
      <p:sp>
        <p:nvSpPr>
          <p:cNvPr id="5" name="Rounded Rectangle 4"/>
          <p:cNvSpPr/>
          <p:nvPr/>
        </p:nvSpPr>
        <p:spPr>
          <a:xfrm>
            <a:off x="731520" y="1371600"/>
            <a:ext cx="52120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50" b="1">
                <a:solidFill>
                  <a:srgbClr val="00D2EB"/>
                </a:solidFill>
              </a:defRPr>
            </a:pPr>
            <a:r>
              <a:t>QUESTION 1: STUDENT PROJECT APPROVAL SYSTEM</a:t>
            </a:r>
          </a:p>
          <a:p>
            <a:pPr>
              <a:spcAft>
                <a:spcPts val="800"/>
              </a:spcAft>
            </a:pPr>
            <a:r>
              <a:rPr b="1" sz="1050">
                <a:solidFill>
                  <a:srgbClr val="F8FAFC"/>
                </a:solidFill>
              </a:rPr>
              <a:t>• The Academic Challenge: </a:t>
            </a:r>
            <a:r>
              <a:rPr sz="1000">
                <a:solidFill>
                  <a:srgbClr val="94A3B8"/>
                </a:solidFill>
              </a:rPr>
              <a:t>University departments manage hundreds of final-year capstone proposals. Manual paper flows lead to lost forms, plagiarism oversights, revision deadlocks, and guide workload imbalances.</a:t>
            </a:r>
          </a:p>
          <a:p>
            <a:pPr>
              <a:spcAft>
                <a:spcPts val="800"/>
              </a:spcAft>
            </a:pPr>
            <a:r>
              <a:rPr b="1" sz="1050">
                <a:solidFill>
                  <a:srgbClr val="F8FAFC"/>
                </a:solidFill>
              </a:rPr>
              <a:t>• Key Participants (5 Lanes): </a:t>
            </a:r>
            <a:r>
              <a:rPr sz="1000">
                <a:solidFill>
                  <a:srgbClr val="94A3B8"/>
                </a:solidFill>
              </a:rPr>
              <a:t>Student/Team, Project Coordinator, Review Committee (incl. HoD), Faculty Guide, and Project Management System.</a:t>
            </a:r>
          </a:p>
          <a:p>
            <a:pPr>
              <a:spcAft>
                <a:spcPts val="800"/>
              </a:spcAft>
            </a:pPr>
            <a:r>
              <a:rPr b="1" sz="1050">
                <a:solidFill>
                  <a:srgbClr val="F8FAFC"/>
                </a:solidFill>
              </a:rPr>
              <a:t>• Core Objectives: </a:t>
            </a:r>
            <a:r>
              <a:rPr sz="1000">
                <a:solidFill>
                  <a:srgbClr val="94A3B8"/>
                </a:solidFill>
              </a:rPr>
              <a:t>• Automate completeness &amp; team rule validation.
• Implement similarity/duplicate topic check gate.
• Manage iterative committee revision cycles (SLA timers).
• Rule-based faculty guide workload allocation.</a:t>
            </a:r>
          </a:p>
          <a:p>
            <a:pPr>
              <a:spcAft>
                <a:spcPts val="800"/>
              </a:spcAft>
            </a:pPr>
            <a:r>
              <a:rPr b="1" sz="1050">
                <a:solidFill>
                  <a:srgbClr val="F8FAFC"/>
                </a:solidFill>
              </a:rPr>
              <a:t>• Why BPMN 2.0: </a:t>
            </a:r>
            <a:r>
              <a:rPr sz="1000">
                <a:solidFill>
                  <a:srgbClr val="94A3B8"/>
                </a:solidFill>
              </a:rPr>
              <a:t>BPMN swimlanes eliminate ambiguity between student submissions, coordinator screening, and committee academic evaluation.</a:t>
            </a:r>
          </a:p>
        </p:txBody>
      </p:sp>
      <p:sp>
        <p:nvSpPr>
          <p:cNvPr id="6" name="Rounded Rectangle 5"/>
          <p:cNvSpPr/>
          <p:nvPr/>
        </p:nvSpPr>
        <p:spPr>
          <a:xfrm>
            <a:off x="6217920" y="1371600"/>
            <a:ext cx="52120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50" b="1">
                <a:solidFill>
                  <a:srgbClr val="34D399"/>
                </a:solidFill>
              </a:defRPr>
            </a:pPr>
            <a:r>
              <a:t>QUESTION 2: LOAN ORIGINATION &amp; APPROVAL SYSTEM</a:t>
            </a:r>
          </a:p>
          <a:p>
            <a:pPr>
              <a:spcAft>
                <a:spcPts val="800"/>
              </a:spcAft>
            </a:pPr>
            <a:r>
              <a:rPr b="1" sz="1050">
                <a:solidFill>
                  <a:srgbClr val="F8FAFC"/>
                </a:solidFill>
              </a:rPr>
              <a:t>• The Banking Challenge: </a:t>
            </a:r>
            <a:r>
              <a:rPr sz="1000">
                <a:solidFill>
                  <a:srgbClr val="94A3B8"/>
                </a:solidFill>
              </a:rPr>
              <a:t>Commercial lending workflows suffer from long processing times, customer abandonment, regulatory KYC/AML violations, external API downtime, and core banking transaction failures.</a:t>
            </a:r>
          </a:p>
          <a:p>
            <a:pPr>
              <a:spcAft>
                <a:spcPts val="800"/>
              </a:spcAft>
            </a:pPr>
            <a:r>
              <a:rPr b="1" sz="1050">
                <a:solidFill>
                  <a:srgbClr val="F8FAFC"/>
                </a:solidFill>
              </a:rPr>
              <a:t>• Key Participants (7 Lanes/Pools): </a:t>
            </a:r>
            <a:r>
              <a:rPr sz="1000">
                <a:solidFill>
                  <a:srgbClr val="94A3B8"/>
                </a:solidFill>
              </a:rPr>
              <a:t>Applicant, Loan Officer, Underwriter, Compliance Team, Core Banking, Operations, and External Credit Bureau Pool.</a:t>
            </a:r>
          </a:p>
          <a:p>
            <a:pPr>
              <a:spcAft>
                <a:spcPts val="800"/>
              </a:spcAft>
            </a:pPr>
            <a:r>
              <a:rPr b="1" sz="1050">
                <a:solidFill>
                  <a:srgbClr val="F8FAFC"/>
                </a:solidFill>
              </a:rPr>
              <a:t>• Core Objectives: </a:t>
            </a:r>
            <a:r>
              <a:rPr sz="1000">
                <a:solidFill>
                  <a:srgbClr val="94A3B8"/>
                </a:solidFill>
              </a:rPr>
              <a:t>• Concurrently execute KYC/AML, Credit Bureau, and DTI checks.
• Enable underwriter manual review &amp; collateral re-valuation.
• Enforce 7-day offer acceptance expiry and 48-hour e-sign SLAs.
• Contain technical errors during NEFT/RTGS disbursement.</a:t>
            </a:r>
          </a:p>
          <a:p>
            <a:pPr>
              <a:spcAft>
                <a:spcPts val="800"/>
              </a:spcAft>
            </a:pPr>
            <a:r>
              <a:rPr b="1" sz="1050">
                <a:solidFill>
                  <a:srgbClr val="F8FAFC"/>
                </a:solidFill>
              </a:rPr>
              <a:t>• Why BPMN 2.0: </a:t>
            </a:r>
            <a:r>
              <a:rPr sz="1000">
                <a:solidFill>
                  <a:srgbClr val="94A3B8"/>
                </a:solidFill>
              </a:rPr>
              <a:t>BPMN 2.0 provides formal pool separation for external partners and event boundaries for transaction safety.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SYSTEM ARCHITECTURE — Q1</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Question 1: Student Project Approval Architecture</a:t>
            </a:r>
          </a:p>
        </p:txBody>
      </p:sp>
      <p:sp>
        <p:nvSpPr>
          <p:cNvPr id="5" name="Rounded Rectangle 4"/>
          <p:cNvSpPr/>
          <p:nvPr/>
        </p:nvSpPr>
        <p:spPr>
          <a:xfrm>
            <a:off x="731520" y="1371600"/>
            <a:ext cx="713232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ssignment1_BPMN_Diagram.png"/>
          <p:cNvPicPr>
            <a:picLocks noChangeAspect="1"/>
          </p:cNvPicPr>
          <p:nvPr/>
        </p:nvPicPr>
        <p:blipFill>
          <a:blip r:embed="rId2"/>
          <a:stretch>
            <a:fillRect/>
          </a:stretch>
        </p:blipFill>
        <p:spPr>
          <a:xfrm>
            <a:off x="822960" y="1463040"/>
            <a:ext cx="6949440" cy="4754880"/>
          </a:xfrm>
          <a:prstGeom prst="rect">
            <a:avLst/>
          </a:prstGeom>
        </p:spPr>
      </p:pic>
      <p:sp>
        <p:nvSpPr>
          <p:cNvPr id="7" name="Rounded Rectangle 6"/>
          <p:cNvSpPr/>
          <p:nvPr/>
        </p:nvSpPr>
        <p:spPr>
          <a:xfrm>
            <a:off x="8046720" y="1371600"/>
            <a:ext cx="33832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D2EB"/>
                </a:solidFill>
              </a:defRPr>
            </a:pPr>
            <a:r>
              <a:t>Q1 ARCHITECTURAL SUMMARY</a:t>
            </a:r>
          </a:p>
          <a:p>
            <a:pPr>
              <a:spcAft>
                <a:spcPts val="600"/>
              </a:spcAft>
            </a:pPr>
            <a:r>
              <a:rPr b="1" sz="950">
                <a:solidFill>
                  <a:srgbClr val="F8FAFC"/>
                </a:solidFill>
              </a:rPr>
              <a:t>✔ Swimlanes (5): </a:t>
            </a:r>
            <a:r>
              <a:rPr sz="900">
                <a:solidFill>
                  <a:srgbClr val="94A3B8"/>
                </a:solidFill>
              </a:rPr>
              <a:t>Student/Team, Project Coordinator, Project Management System, Review Committee, Faculty Guide.</a:t>
            </a:r>
          </a:p>
          <a:p>
            <a:pPr>
              <a:spcAft>
                <a:spcPts val="600"/>
              </a:spcAft>
            </a:pPr>
            <a:r>
              <a:rPr b="1" sz="950">
                <a:solidFill>
                  <a:srgbClr val="F8FAFC"/>
                </a:solidFill>
              </a:rPr>
              <a:t>✔ Process Boundaries: </a:t>
            </a:r>
            <a:r>
              <a:rPr sz="900">
                <a:solidFill>
                  <a:srgbClr val="94A3B8"/>
                </a:solidFill>
              </a:rPr>
              <a:t>Starts when student team submits proposal. Ends when guide is allocated &amp; confirmed, or proposal rejected/lapsed.</a:t>
            </a:r>
          </a:p>
          <a:p>
            <a:pPr>
              <a:spcAft>
                <a:spcPts val="600"/>
              </a:spcAft>
            </a:pPr>
            <a:r>
              <a:rPr b="1" sz="950">
                <a:solidFill>
                  <a:srgbClr val="F8FAFC"/>
                </a:solidFill>
              </a:rPr>
              <a:t>✔ Key Decision Gates: </a:t>
            </a:r>
            <a:r>
              <a:rPr sz="900">
                <a:solidFill>
                  <a:srgbClr val="94A3B8"/>
                </a:solidFill>
              </a:rPr>
              <a:t>1. Document Completeness (System)
2. Team Rule Verification (System)
3. Similarity / Plagiarism Gate (System)
4. Committee Decision (Approve / Revise / Reject)
5. Guide Availability Match (DMN)
6. Guide Acceptance (Message / Timeout).</a:t>
            </a:r>
          </a:p>
          <a:p>
            <a:pPr>
              <a:spcAft>
                <a:spcPts val="600"/>
              </a:spcAft>
            </a:pPr>
            <a:r>
              <a:rPr b="1" sz="950">
                <a:solidFill>
                  <a:srgbClr val="F8FAFC"/>
                </a:solidFill>
              </a:rPr>
              <a:t>✔ Failure End States (6): </a:t>
            </a:r>
            <a:r>
              <a:rPr sz="900">
                <a:solidFill>
                  <a:srgbClr val="94A3B8"/>
                </a:solidFill>
              </a:rPr>
              <a:t>Invalid Proposal, Duplicate Topic, Proposal Lapsed, Proposal Rejected, No Guide Available, System Failure.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SYSTEM ARCHITECTURE — Q2</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Question 2: Loan Origination &amp; Approval Architecture</a:t>
            </a:r>
          </a:p>
        </p:txBody>
      </p:sp>
      <p:sp>
        <p:nvSpPr>
          <p:cNvPr id="5" name="Rounded Rectangle 4"/>
          <p:cNvSpPr/>
          <p:nvPr/>
        </p:nvSpPr>
        <p:spPr>
          <a:xfrm>
            <a:off x="731520" y="1371600"/>
            <a:ext cx="713232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ssignment3_BPMN_Diagram.png"/>
          <p:cNvPicPr>
            <a:picLocks noChangeAspect="1"/>
          </p:cNvPicPr>
          <p:nvPr/>
        </p:nvPicPr>
        <p:blipFill>
          <a:blip r:embed="rId2"/>
          <a:stretch>
            <a:fillRect/>
          </a:stretch>
        </p:blipFill>
        <p:spPr>
          <a:xfrm>
            <a:off x="822960" y="1463040"/>
            <a:ext cx="6949440" cy="4754880"/>
          </a:xfrm>
          <a:prstGeom prst="rect">
            <a:avLst/>
          </a:prstGeom>
        </p:spPr>
      </p:pic>
      <p:sp>
        <p:nvSpPr>
          <p:cNvPr id="7" name="Rounded Rectangle 6"/>
          <p:cNvSpPr/>
          <p:nvPr/>
        </p:nvSpPr>
        <p:spPr>
          <a:xfrm>
            <a:off x="8046720" y="1371600"/>
            <a:ext cx="33832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34D399"/>
                </a:solidFill>
              </a:defRPr>
            </a:pPr>
            <a:r>
              <a:t>Q2 ARCHITECTURAL SUMMARY</a:t>
            </a:r>
          </a:p>
          <a:p>
            <a:pPr>
              <a:spcAft>
                <a:spcPts val="600"/>
              </a:spcAft>
            </a:pPr>
            <a:r>
              <a:rPr b="1" sz="950">
                <a:solidFill>
                  <a:srgbClr val="F8FAFC"/>
                </a:solidFill>
              </a:rPr>
              <a:t>✔ Participants &amp; Pools: </a:t>
            </a:r>
            <a:r>
              <a:rPr sz="900">
                <a:solidFill>
                  <a:srgbClr val="94A3B8"/>
                </a:solidFill>
              </a:rPr>
              <a:t>7 Total: 6 internal bank lanes (Applicant, Loan Officer, Underwriter, Compliance, Core Banking, Operations) + 1 External Pool (Credit Bureau).</a:t>
            </a:r>
          </a:p>
          <a:p>
            <a:pPr>
              <a:spcAft>
                <a:spcPts val="600"/>
              </a:spcAft>
            </a:pPr>
            <a:r>
              <a:rPr b="1" sz="950">
                <a:solidFill>
                  <a:srgbClr val="F8FAFC"/>
                </a:solidFill>
              </a:rPr>
              <a:t>✔ Process Boundaries: </a:t>
            </a:r>
            <a:r>
              <a:rPr sz="900">
                <a:solidFill>
                  <a:srgbClr val="94A3B8"/>
                </a:solidFill>
              </a:rPr>
              <a:t>Starts when applicant submits loan form &amp; docs. Ends when loan is disbursed, or rejected/withdrawn/expired/terminated.</a:t>
            </a:r>
          </a:p>
          <a:p>
            <a:pPr>
              <a:spcAft>
                <a:spcPts val="600"/>
              </a:spcAft>
            </a:pPr>
            <a:r>
              <a:rPr b="1" sz="950">
                <a:solidFill>
                  <a:srgbClr val="F8FAFC"/>
                </a:solidFill>
              </a:rPr>
              <a:t>✔ Key Concurrency Feature: </a:t>
            </a:r>
            <a:r>
              <a:rPr sz="900">
                <a:solidFill>
                  <a:srgbClr val="94A3B8"/>
                </a:solidFill>
              </a:rPr>
              <a:t>Parallel Gateway forks 3 concurrent streams: KYC/AML check, Credit Bureau request, and DTI calculation.</a:t>
            </a:r>
          </a:p>
          <a:p>
            <a:pPr>
              <a:spcAft>
                <a:spcPts val="600"/>
              </a:spcAft>
            </a:pPr>
            <a:r>
              <a:rPr b="1" sz="950">
                <a:solidFill>
                  <a:srgbClr val="F8FAFC"/>
                </a:solidFill>
              </a:rPr>
              <a:t>✔ External Message Exchange: </a:t>
            </a:r>
            <a:r>
              <a:rPr sz="900">
                <a:solidFill>
                  <a:srgbClr val="94A3B8"/>
                </a:solidFill>
              </a:rPr>
              <a:t>Message Flows connect Bank Core Banking lane to external Credit Bureau Pool for credit reports.</a:t>
            </a:r>
          </a:p>
          <a:p>
            <a:pPr>
              <a:spcAft>
                <a:spcPts val="600"/>
              </a:spcAft>
            </a:pPr>
            <a:r>
              <a:rPr b="1" sz="950">
                <a:solidFill>
                  <a:srgbClr val="F8FAFC"/>
                </a:solidFill>
              </a:rPr>
              <a:t>✔ Failure End States (6): </a:t>
            </a:r>
            <a:r>
              <a:rPr sz="900">
                <a:solidFill>
                  <a:srgbClr val="94A3B8"/>
                </a:solidFill>
              </a:rPr>
              <a:t>Rejected, Withdrawn, Application Lapsed, Offer Expired, Fraud Terminated, Disbursement Failed.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BPMN CONSTRUCTS</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Task Types Used Across Both BPMN Processes</a:t>
            </a:r>
          </a:p>
        </p:txBody>
      </p:sp>
      <p:sp>
        <p:nvSpPr>
          <p:cNvPr id="5" name="Rounded Rectangle 4"/>
          <p:cNvSpPr/>
          <p:nvPr/>
        </p:nvSpPr>
        <p:spPr>
          <a:xfrm>
            <a:off x="731520" y="1371600"/>
            <a:ext cx="2542032"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00D2EB"/>
                </a:solidFill>
              </a:defRPr>
            </a:pPr>
            <a:r>
              <a:t>👤  USER TASK</a:t>
            </a:r>
          </a:p>
          <a:p>
            <a:pPr>
              <a:spcAft>
                <a:spcPts val="600"/>
              </a:spcAft>
              <a:defRPr sz="900">
                <a:solidFill>
                  <a:srgbClr val="94A3B8"/>
                </a:solidFill>
              </a:defRPr>
            </a:pPr>
            <a:r>
              <a:t>Def: Human interaction supported by UI</a:t>
            </a:r>
          </a:p>
          <a:p>
            <a:pPr>
              <a:spcAft>
                <a:spcPts val="800"/>
              </a:spcAft>
              <a:defRPr sz="850">
                <a:solidFill>
                  <a:srgbClr val="F8FAFC"/>
                </a:solidFill>
              </a:defRPr>
            </a:pPr>
            <a:r>
              <a:t>Q1 Examples:</a:t>
            </a:r>
            <a:br/>
            <a:r>
              <a:t>• Prepare &amp; Submit Proposal (Student)</a:t>
            </a:r>
            <a:br/>
            <a:r>
              <a:t>• Screen Proposal (Coordinator)</a:t>
            </a:r>
            <a:br/>
            <a:r>
              <a:t>• Evaluate Proposal (Committee)</a:t>
            </a:r>
            <a:br/>
            <a:r>
              <a:t>• Manual Guide Allocation (Coordinator)</a:t>
            </a:r>
            <a:br/>
            <a:br/>
            <a:r>
              <a:t>Q2 Examples:</a:t>
            </a:r>
            <a:br/>
            <a:r>
              <a:t>• Submit Application (Applicant)</a:t>
            </a:r>
            <a:br/>
            <a:r>
              <a:t>• Verify Income &amp; Employment (Officer)</a:t>
            </a:r>
            <a:br/>
            <a:r>
              <a:t>• Underwriter Full Review (Underwriter)</a:t>
            </a:r>
            <a:br/>
            <a:r>
              <a:t>• E-Sign Loan Agreement (Applicant)</a:t>
            </a:r>
          </a:p>
          <a:p>
            <a:pPr>
              <a:defRPr sz="850">
                <a:solidFill>
                  <a:srgbClr val="94A3B8"/>
                </a:solidFill>
              </a:defRPr>
            </a:pPr>
            <a:r>
              <a:t>Why Chosen? Selected whenever task completion requires human judgement, evaluation, negotiation, or manual form inputs. Cannot be executed by an automated script.</a:t>
            </a:r>
          </a:p>
        </p:txBody>
      </p:sp>
      <p:sp>
        <p:nvSpPr>
          <p:cNvPr id="6" name="Rounded Rectangle 5"/>
          <p:cNvSpPr/>
          <p:nvPr/>
        </p:nvSpPr>
        <p:spPr>
          <a:xfrm>
            <a:off x="3456432" y="1371600"/>
            <a:ext cx="2542032"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34D399"/>
                </a:solidFill>
              </a:defRPr>
            </a:pPr>
            <a:r>
              <a:t>⚙️  SERVICE TASK</a:t>
            </a:r>
          </a:p>
          <a:p>
            <a:pPr>
              <a:spcAft>
                <a:spcPts val="600"/>
              </a:spcAft>
              <a:defRPr sz="900">
                <a:solidFill>
                  <a:srgbClr val="94A3B8"/>
                </a:solidFill>
              </a:defRPr>
            </a:pPr>
            <a:r>
              <a:t>Def: Automated system execution</a:t>
            </a:r>
          </a:p>
          <a:p>
            <a:pPr>
              <a:spcAft>
                <a:spcPts val="800"/>
              </a:spcAft>
              <a:defRPr sz="850">
                <a:solidFill>
                  <a:srgbClr val="F8FAFC"/>
                </a:solidFill>
              </a:defRPr>
            </a:pPr>
            <a:r>
              <a:t>Q1 Examples:</a:t>
            </a:r>
            <a:br/>
            <a:r>
              <a:t>• Validate Document Completeness</a:t>
            </a:r>
            <a:br/>
            <a:r>
              <a:t>• Validate Team Composition Rules</a:t>
            </a:r>
            <a:br/>
            <a:r>
              <a:t>• Similarity &amp; Duplicate Topic Check</a:t>
            </a:r>
            <a:br/>
            <a:r>
              <a:t>• Auto-Allocate Guide</a:t>
            </a:r>
            <a:br/>
            <a:br/>
            <a:r>
              <a:t>Q2 Examples:</a:t>
            </a:r>
            <a:br/>
            <a:r>
              <a:t>• KYC Identity Verification API</a:t>
            </a:r>
            <a:br/>
            <a:r>
              <a:t>• AML Watchlist Screening API</a:t>
            </a:r>
            <a:br/>
            <a:r>
              <a:t>• Automated DTI Calculation</a:t>
            </a:r>
            <a:br/>
            <a:r>
              <a:t>• Disburse Loan Funds (Core Banking)</a:t>
            </a:r>
          </a:p>
          <a:p>
            <a:pPr>
              <a:defRPr sz="850">
                <a:solidFill>
                  <a:srgbClr val="94A3B8"/>
                </a:solidFill>
              </a:defRPr>
            </a:pPr>
            <a:r>
              <a:t>Why Chosen? Selected for deterministic computational logic, API integrations, and database operations without human intervention. Ensures instant SLA execution.</a:t>
            </a:r>
          </a:p>
        </p:txBody>
      </p:sp>
      <p:sp>
        <p:nvSpPr>
          <p:cNvPr id="7" name="Rounded Rectangle 6"/>
          <p:cNvSpPr/>
          <p:nvPr/>
        </p:nvSpPr>
        <p:spPr>
          <a:xfrm>
            <a:off x="6181344" y="1371600"/>
            <a:ext cx="2542032"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60A5FA"/>
                </a:solidFill>
              </a:defRPr>
            </a:pPr>
            <a:r>
              <a:t>✉️ / 📥  SEND TASK &amp; CATCH</a:t>
            </a:r>
          </a:p>
          <a:p>
            <a:pPr>
              <a:spcAft>
                <a:spcPts val="600"/>
              </a:spcAft>
              <a:defRPr sz="900">
                <a:solidFill>
                  <a:srgbClr val="94A3B8"/>
                </a:solidFill>
              </a:defRPr>
            </a:pPr>
            <a:r>
              <a:t>Def: Outbound message dispatch &amp; asynchronous catch</a:t>
            </a:r>
          </a:p>
          <a:p>
            <a:pPr>
              <a:spcAft>
                <a:spcPts val="800"/>
              </a:spcAft>
              <a:defRPr sz="850">
                <a:solidFill>
                  <a:srgbClr val="F8FAFC"/>
                </a:solidFill>
              </a:defRPr>
            </a:pPr>
            <a:r>
              <a:t>Q1 Examples:</a:t>
            </a:r>
            <a:br/>
            <a:r>
              <a:t>• Send Task: Guide Allocation Request</a:t>
            </a:r>
            <a:br/>
            <a:r>
              <a:t>• Send Task: Revision Feedback</a:t>
            </a:r>
            <a:br/>
            <a:r>
              <a:t>• Message Catch: Receive Guide Acceptance</a:t>
            </a:r>
            <a:br/>
            <a:br/>
            <a:r>
              <a:t>Q2 Examples:</a:t>
            </a:r>
            <a:br/>
            <a:r>
              <a:t>• Send Task: Request Credit Report</a:t>
            </a:r>
            <a:br/>
            <a:r>
              <a:t>• Message Catch: Receive Credit Report</a:t>
            </a:r>
            <a:br/>
            <a:r>
              <a:t>• Send Task: Send Loan Offer Letter</a:t>
            </a:r>
          </a:p>
          <a:p>
            <a:pPr>
              <a:defRPr sz="850">
                <a:solidFill>
                  <a:srgbClr val="94A3B8"/>
                </a:solidFill>
              </a:defRPr>
            </a:pPr>
            <a:r>
              <a:t>Why Chosen? Selected to model active dispatch and asynchronous waiting states across organizational or participant boundaries without thread-blocking.</a:t>
            </a:r>
          </a:p>
        </p:txBody>
      </p:sp>
      <p:sp>
        <p:nvSpPr>
          <p:cNvPr id="8" name="Rounded Rectangle 7"/>
          <p:cNvSpPr/>
          <p:nvPr/>
        </p:nvSpPr>
        <p:spPr>
          <a:xfrm>
            <a:off x="8906256" y="1371600"/>
            <a:ext cx="2542032"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C084FC"/>
                </a:solidFill>
              </a:defRPr>
            </a:pPr>
            <a:r>
              <a:t>📊 / 📜  BUSINESS RULE &amp; SCRIPT</a:t>
            </a:r>
          </a:p>
          <a:p>
            <a:pPr>
              <a:spcAft>
                <a:spcPts val="600"/>
              </a:spcAft>
              <a:defRPr sz="900">
                <a:solidFill>
                  <a:srgbClr val="94A3B8"/>
                </a:solidFill>
              </a:defRPr>
            </a:pPr>
            <a:r>
              <a:t>Def: Decision tables and procedural utilities</a:t>
            </a:r>
          </a:p>
          <a:p>
            <a:pPr>
              <a:spcAft>
                <a:spcPts val="800"/>
              </a:spcAft>
              <a:defRPr sz="850">
                <a:solidFill>
                  <a:srgbClr val="F8FAFC"/>
                </a:solidFill>
              </a:defRPr>
            </a:pPr>
            <a:r>
              <a:t>Q1 Business Rule Task:</a:t>
            </a:r>
            <a:br/>
            <a:r>
              <a:t>• Check Guide Availability, Workload &amp; Domain Match (Evaluates DMN decision table)</a:t>
            </a:r>
            <a:br/>
            <a:br/>
            <a:r>
              <a:t>Q1 Script Task:</a:t>
            </a:r>
            <a:br/>
            <a:r>
              <a:t>• Log Withdrawal &amp; Release Guide Pre-Assignment (Internal compensation cleanup)</a:t>
            </a:r>
            <a:br/>
            <a:br/>
            <a:r>
              <a:t>Q2 Service Scoring:</a:t>
            </a:r>
            <a:br/>
            <a:r>
              <a:t>• Calculate Eligibility Score (Engine API)</a:t>
            </a:r>
          </a:p>
          <a:p>
            <a:pPr>
              <a:defRPr sz="850">
                <a:solidFill>
                  <a:srgbClr val="94A3B8"/>
                </a:solidFill>
              </a:defRPr>
            </a:pPr>
            <a:r>
              <a:t>Why Chosen? Business Rule Tasks decouple dynamic business policy (faculty workload limits) from process code. Script tasks perform rapid local memory cleanups.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CONTROL FLOW</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Gateways &amp; Concurrency Control (Q1 vs. Q2)</a:t>
            </a:r>
          </a:p>
        </p:txBody>
      </p:sp>
      <p:sp>
        <p:nvSpPr>
          <p:cNvPr id="5" name="Rounded Rectangle 4"/>
          <p:cNvSpPr/>
          <p:nvPr/>
        </p:nvSpPr>
        <p:spPr>
          <a:xfrm>
            <a:off x="731520" y="1371600"/>
            <a:ext cx="3447288"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50" b="1">
                <a:solidFill>
                  <a:srgbClr val="00D2EB"/>
                </a:solidFill>
              </a:defRPr>
            </a:pPr>
            <a:r>
              <a:t>EXCLUSIVE GATEWAY (XOR ✕)</a:t>
            </a:r>
          </a:p>
          <a:p>
            <a:pPr>
              <a:spcAft>
                <a:spcPts val="600"/>
              </a:spcAft>
              <a:defRPr sz="950" b="1">
                <a:solidFill>
                  <a:srgbClr val="94A3B8"/>
                </a:solidFill>
              </a:defRPr>
            </a:pPr>
            <a:r>
              <a:t>Decision Routing (Both Q1 &amp; Q2)</a:t>
            </a:r>
          </a:p>
          <a:p>
            <a:pPr>
              <a:spcAft>
                <a:spcPts val="800"/>
              </a:spcAft>
              <a:defRPr sz="900">
                <a:solidFill>
                  <a:srgbClr val="F8FAFC"/>
                </a:solidFill>
              </a:defRPr>
            </a:pPr>
            <a:r>
              <a:t>Semantics: Evaluates condition expressions and activates EXACTLY ONE outgoing branch. On merge, passes any arriving token immediately.</a:t>
            </a:r>
          </a:p>
          <a:p>
            <a:pPr>
              <a:spcAft>
                <a:spcPts val="800"/>
              </a:spcAft>
              <a:defRPr sz="850">
                <a:solidFill>
                  <a:srgbClr val="94A3B8"/>
                </a:solidFill>
              </a:defRPr>
            </a:pPr>
            <a:r>
              <a:t>• Q1: 'Proposal Valid?' (Valid vs Incomplete)</a:t>
            </a:r>
            <a:br/>
            <a:r>
              <a:t>• Q1: 'Committee Decision' (Approve / Revise / Reject)</a:t>
            </a:r>
            <a:br/>
            <a:r>
              <a:t>• Q1: 'Guide Available?' (Found vs Manual Allocation)</a:t>
            </a:r>
            <a:br/>
            <a:r>
              <a:t>• Q2: 'KYC Passed?' (Pass vs Manual Review vs Terminate)</a:t>
            </a:r>
            <a:br/>
            <a:r>
              <a:t>• Q2: 'Eligibility Decision' (Auto-Approve / Underwriter / Reject)</a:t>
            </a:r>
            <a:br/>
            <a:r>
              <a:t>• Q2: 'Underwriter Decision' (Approve / Collateral / Reject)</a:t>
            </a:r>
            <a:br/>
            <a:r>
              <a:t>• Q2: 'Offer Decision' (Accept / Counter / Withdraw)</a:t>
            </a:r>
          </a:p>
          <a:p>
            <a:pPr>
              <a:defRPr sz="850">
                <a:solidFill>
                  <a:srgbClr val="F8FAFC"/>
                </a:solidFill>
              </a:defRPr>
            </a:pPr>
            <a:r>
              <a:t>Why Used? Loan decisions and proposal verdicts are mutually exclusive; an application cannot be simultaneously approved and rejected. XOR ensures deterministic execution.</a:t>
            </a:r>
          </a:p>
        </p:txBody>
      </p:sp>
      <p:sp>
        <p:nvSpPr>
          <p:cNvPr id="6" name="Rounded Rectangle 5"/>
          <p:cNvSpPr/>
          <p:nvPr/>
        </p:nvSpPr>
        <p:spPr>
          <a:xfrm>
            <a:off x="4361688" y="1371600"/>
            <a:ext cx="3447288"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50" b="1">
                <a:solidFill>
                  <a:srgbClr val="34D399"/>
                </a:solidFill>
              </a:defRPr>
            </a:pPr>
            <a:r>
              <a:t>PARALLEL GATEWAY (AND ✛)</a:t>
            </a:r>
          </a:p>
          <a:p>
            <a:pPr>
              <a:spcAft>
                <a:spcPts val="600"/>
              </a:spcAft>
              <a:defRPr sz="950" b="1">
                <a:solidFill>
                  <a:srgbClr val="94A3B8"/>
                </a:solidFill>
              </a:defRPr>
            </a:pPr>
            <a:r>
              <a:t>Concurrency Synchronization (Q2)</a:t>
            </a:r>
          </a:p>
          <a:p>
            <a:pPr>
              <a:spcAft>
                <a:spcPts val="800"/>
              </a:spcAft>
              <a:defRPr sz="900">
                <a:solidFill>
                  <a:srgbClr val="F8FAFC"/>
                </a:solidFill>
              </a:defRPr>
            </a:pPr>
            <a:r>
              <a:t>Semantics: Forks one incoming path into multiple concurrent branches without conditions. The join waits for ALL incoming paths before proceeding.</a:t>
            </a:r>
          </a:p>
          <a:p>
            <a:pPr>
              <a:spcAft>
                <a:spcPts val="800"/>
              </a:spcAft>
              <a:defRPr sz="850">
                <a:solidFill>
                  <a:srgbClr val="94A3B8"/>
                </a:solidFill>
              </a:defRPr>
            </a:pPr>
            <a:r>
              <a:t>• Q2 Fork: 'Start Parallel Verification Checks'</a:t>
            </a:r>
            <a:br/>
            <a:r>
              <a:t>  - Branch 1: KYC Identity &amp; AML Screening</a:t>
            </a:r>
            <a:br/>
            <a:r>
              <a:t>  - Branch 2: Credit Bureau Score Retrieval</a:t>
            </a:r>
            <a:br/>
            <a:r>
              <a:t>  - Branch 3: Debt-to-Income (DTI) Calculation</a:t>
            </a:r>
            <a:br/>
            <a:r>
              <a:t>• Q2 Join: 'All Parallel Checks Complete'</a:t>
            </a:r>
            <a:br/>
            <a:r>
              <a:t>  - Synchronizes all 3 branches before income verification.</a:t>
            </a:r>
          </a:p>
          <a:p>
            <a:pPr>
              <a:defRPr sz="850">
                <a:solidFill>
                  <a:srgbClr val="F8FAFC"/>
                </a:solidFill>
              </a:defRPr>
            </a:pPr>
            <a:r>
              <a:t>Why Used? Running checks serially creates additive cycle time. Parallel execution cuts processing latency while the synchronized join prevents token race conditions.</a:t>
            </a:r>
          </a:p>
        </p:txBody>
      </p:sp>
      <p:sp>
        <p:nvSpPr>
          <p:cNvPr id="7" name="Rounded Rectangle 6"/>
          <p:cNvSpPr/>
          <p:nvPr/>
        </p:nvSpPr>
        <p:spPr>
          <a:xfrm>
            <a:off x="7991856" y="1371600"/>
            <a:ext cx="3447288"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50" b="1">
                <a:solidFill>
                  <a:srgbClr val="FB923C"/>
                </a:solidFill>
              </a:defRPr>
            </a:pPr>
            <a:r>
              <a:t>EVENT-BASED GATEWAY (⬡)</a:t>
            </a:r>
          </a:p>
          <a:p>
            <a:pPr>
              <a:spcAft>
                <a:spcPts val="600"/>
              </a:spcAft>
              <a:defRPr sz="950" b="1">
                <a:solidFill>
                  <a:srgbClr val="94A3B8"/>
                </a:solidFill>
              </a:defRPr>
            </a:pPr>
            <a:r>
              <a:t>Competing Event Selection (Q1)</a:t>
            </a:r>
          </a:p>
          <a:p>
            <a:pPr>
              <a:spcAft>
                <a:spcPts val="800"/>
              </a:spcAft>
              <a:defRPr sz="900">
                <a:solidFill>
                  <a:srgbClr val="F8FAFC"/>
                </a:solidFill>
              </a:defRPr>
            </a:pPr>
            <a:r>
              <a:t>Semantics: Routes based on whichever external event occurs first, rather than evaluated data expressions.</a:t>
            </a:r>
          </a:p>
          <a:p>
            <a:pPr>
              <a:spcAft>
                <a:spcPts val="800"/>
              </a:spcAft>
              <a:defRPr sz="850">
                <a:solidFill>
                  <a:srgbClr val="94A3B8"/>
                </a:solidFill>
              </a:defRPr>
            </a:pPr>
            <a:r>
              <a:t>• Q1: 'Wait for Guide Acceptance or Timeout'</a:t>
            </a:r>
            <a:br/>
            <a:r>
              <a:t>  - Branch A: Intermediate Message Catch ('Guide Accepts Request')</a:t>
            </a:r>
            <a:br/>
            <a:r>
              <a:t>  - Branch B: Intermediate Timer Event ('3-Day Guide Response Timeout')</a:t>
            </a:r>
            <a:br/>
            <a:r>
              <a:t>  - Result: If guide accepts, proceeds to record allocation; if 3 days elapse, diverts to Coordinator Manual Allocation.</a:t>
            </a:r>
          </a:p>
          <a:p>
            <a:pPr>
              <a:defRPr sz="850">
                <a:solidFill>
                  <a:srgbClr val="F8FAFC"/>
                </a:solidFill>
              </a:defRPr>
            </a:pPr>
            <a:r>
              <a:t>Why Used? Models real-world asynchronous competition: the process cannot know in advance whether the faculty member will accept or ignore the request.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EVENT ARCHITECTURE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Intermediate &amp; Boundary Events Deep-Dive</a:t>
            </a:r>
          </a:p>
        </p:txBody>
      </p:sp>
      <p:sp>
        <p:nvSpPr>
          <p:cNvPr id="5" name="Rounded Rectangle 4"/>
          <p:cNvSpPr/>
          <p:nvPr/>
        </p:nvSpPr>
        <p:spPr>
          <a:xfrm>
            <a:off x="731520" y="1371600"/>
            <a:ext cx="10698480" cy="77724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D2EB"/>
                </a:solidFill>
              </a:defRPr>
            </a:pPr>
            <a:r>
              <a:t>CRITICAL DISTINCTION: INLINE INTERMEDIATE EVENTS VS. TASK BOUNDARY EVENTS</a:t>
            </a:r>
          </a:p>
          <a:p>
            <a:pPr>
              <a:defRPr sz="950">
                <a:solidFill>
                  <a:srgbClr val="F8FAFC"/>
                </a:solidFill>
              </a:defRPr>
            </a:pPr>
            <a:r>
              <a:t>• Inline Intermediate Events sit in the sequence flow and pause token progress until an external trigger arrives.</a:t>
            </a:r>
            <a:br/>
            <a:r>
              <a:t>• Boundary Events attach to task perimeters; they monitor active execution and catch external timeouts, faults, or cancellations.</a:t>
            </a:r>
          </a:p>
        </p:txBody>
      </p:sp>
      <p:sp>
        <p:nvSpPr>
          <p:cNvPr id="6" name="Rounded Rectangle 5"/>
          <p:cNvSpPr/>
          <p:nvPr/>
        </p:nvSpPr>
        <p:spPr>
          <a:xfrm>
            <a:off x="731520" y="2286000"/>
            <a:ext cx="2542032" cy="40233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00D2EB"/>
                </a:solidFill>
              </a:defRPr>
            </a:pPr>
            <a:r>
              <a:t>INLINE MESSAGE CATCH</a:t>
            </a:r>
          </a:p>
          <a:p>
            <a:pPr>
              <a:defRPr sz="900" b="1">
                <a:solidFill>
                  <a:srgbClr val="94A3B8"/>
                </a:solidFill>
              </a:defRPr>
            </a:pPr>
            <a:r>
              <a:t>Symbol: ✉️ (Catch)</a:t>
            </a:r>
          </a:p>
          <a:p>
            <a:pPr>
              <a:spcAft>
                <a:spcPts val="600"/>
              </a:spcAft>
              <a:defRPr sz="900">
                <a:solidFill>
                  <a:srgbClr val="F8FAFC"/>
                </a:solidFill>
              </a:defRPr>
            </a:pPr>
            <a:r>
              <a:t>Type: Sequence Flow Intermediate Event</a:t>
            </a:r>
          </a:p>
          <a:p>
            <a:pPr>
              <a:spcAft>
                <a:spcPts val="600"/>
              </a:spcAft>
              <a:defRPr sz="850">
                <a:solidFill>
                  <a:srgbClr val="94A3B8"/>
                </a:solidFill>
              </a:defRPr>
            </a:pPr>
            <a:r>
              <a:t>Q1: 'Receive Revision Request'</a:t>
            </a:r>
            <a:br/>
            <a:r>
              <a:t>Student waits for committee feedback.</a:t>
            </a:r>
            <a:br/>
            <a:r>
              <a:t>Q1: 'Receive Guide Acceptance'</a:t>
            </a:r>
            <a:br/>
            <a:r>
              <a:t>System waits for guide response.</a:t>
            </a:r>
            <a:br/>
            <a:r>
              <a:t>Q2: 'Receive Credit Report'</a:t>
            </a:r>
            <a:br/>
            <a:r>
              <a:t>Core Banking waits for Credit Bureau report.</a:t>
            </a:r>
          </a:p>
          <a:p>
            <a:pPr>
              <a:defRPr sz="850">
                <a:solidFill>
                  <a:srgbClr val="F8FAFC"/>
                </a:solidFill>
              </a:defRPr>
            </a:pPr>
            <a:r>
              <a:t>Why Needed? Models non-polling asynchronous waiting. Decouples collaborating parties.</a:t>
            </a:r>
          </a:p>
        </p:txBody>
      </p:sp>
      <p:sp>
        <p:nvSpPr>
          <p:cNvPr id="7" name="Rounded Rectangle 6"/>
          <p:cNvSpPr/>
          <p:nvPr/>
        </p:nvSpPr>
        <p:spPr>
          <a:xfrm>
            <a:off x="3456432" y="2286000"/>
            <a:ext cx="2542032" cy="40233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60A5FA"/>
                </a:solidFill>
              </a:defRPr>
            </a:pPr>
            <a:r>
              <a:t>NON-INTERRUPTING TIMER</a:t>
            </a:r>
          </a:p>
          <a:p>
            <a:pPr>
              <a:defRPr sz="900" b="1">
                <a:solidFill>
                  <a:srgbClr val="94A3B8"/>
                </a:solidFill>
              </a:defRPr>
            </a:pPr>
            <a:r>
              <a:t>Symbol: ⏱️ (Dashed Ring)</a:t>
            </a:r>
          </a:p>
          <a:p>
            <a:pPr>
              <a:spcAft>
                <a:spcPts val="600"/>
              </a:spcAft>
              <a:defRPr sz="900">
                <a:solidFill>
                  <a:srgbClr val="F8FAFC"/>
                </a:solidFill>
              </a:defRPr>
            </a:pPr>
            <a:r>
              <a:t>Type: Boundary Event on Task</a:t>
            </a:r>
          </a:p>
          <a:p>
            <a:pPr>
              <a:spcAft>
                <a:spcPts val="600"/>
              </a:spcAft>
              <a:defRPr sz="850">
                <a:solidFill>
                  <a:srgbClr val="94A3B8"/>
                </a:solidFill>
              </a:defRPr>
            </a:pPr>
            <a:r>
              <a:t>Q1: '10-Day Review SLA Timer'</a:t>
            </a:r>
            <a:br/>
            <a:r>
              <a:t>Fires HoD escalation reminder on committee.</a:t>
            </a:r>
            <a:br/>
            <a:r>
              <a:t>Q2: '24-Hour Credit Bureau Timer'</a:t>
            </a:r>
            <a:br/>
            <a:r>
              <a:t>Fires automated retry request.</a:t>
            </a:r>
            <a:br/>
            <a:r>
              <a:t>Q2: '48-Hour E-Sign SLA Timer'</a:t>
            </a:r>
            <a:br/>
            <a:r>
              <a:t>Triggers wet-signature alert to operations.</a:t>
            </a:r>
          </a:p>
          <a:p>
            <a:pPr>
              <a:defRPr sz="850">
                <a:solidFill>
                  <a:srgbClr val="F8FAFC"/>
                </a:solidFill>
              </a:defRPr>
            </a:pPr>
            <a:r>
              <a:t>Why Needed? Fires parallel escalations without aborting or cancelling the primary active user task.</a:t>
            </a:r>
          </a:p>
        </p:txBody>
      </p:sp>
      <p:sp>
        <p:nvSpPr>
          <p:cNvPr id="8" name="Rounded Rectangle 7"/>
          <p:cNvSpPr/>
          <p:nvPr/>
        </p:nvSpPr>
        <p:spPr>
          <a:xfrm>
            <a:off x="6181344" y="2286000"/>
            <a:ext cx="2542032" cy="40233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FB923C"/>
                </a:solidFill>
              </a:defRPr>
            </a:pPr>
            <a:r>
              <a:t>INTERRUPTING TIMER</a:t>
            </a:r>
          </a:p>
          <a:p>
            <a:pPr>
              <a:defRPr sz="900" b="1">
                <a:solidFill>
                  <a:srgbClr val="94A3B8"/>
                </a:solidFill>
              </a:defRPr>
            </a:pPr>
            <a:r>
              <a:t>Symbol: ⏱️ (Solid Ring)</a:t>
            </a:r>
          </a:p>
          <a:p>
            <a:pPr>
              <a:spcAft>
                <a:spcPts val="600"/>
              </a:spcAft>
              <a:defRPr sz="900">
                <a:solidFill>
                  <a:srgbClr val="F8FAFC"/>
                </a:solidFill>
              </a:defRPr>
            </a:pPr>
            <a:r>
              <a:t>Type: Boundary Event on Task</a:t>
            </a:r>
          </a:p>
          <a:p>
            <a:pPr>
              <a:spcAft>
                <a:spcPts val="600"/>
              </a:spcAft>
              <a:defRPr sz="850">
                <a:solidFill>
                  <a:srgbClr val="94A3B8"/>
                </a:solidFill>
              </a:defRPr>
            </a:pPr>
            <a:r>
              <a:t>Q1: '14-Day Submission Deadline'</a:t>
            </a:r>
            <a:br/>
            <a:r>
              <a:t>Cancels proposal prep → EndEvent: Lapsed.</a:t>
            </a:r>
            <a:br/>
            <a:r>
              <a:t>Q1: '7-Day Revision Deadline'</a:t>
            </a:r>
            <a:br/>
            <a:r>
              <a:t>Limits student revision window.</a:t>
            </a:r>
            <a:br/>
            <a:r>
              <a:t>Q2: '7-Day Offer Validity Timer'</a:t>
            </a:r>
            <a:br/>
            <a:r>
              <a:t>Cancels offer review → EndEvent: Offer Expired.</a:t>
            </a:r>
          </a:p>
          <a:p>
            <a:pPr>
              <a:defRPr sz="850">
                <a:solidFill>
                  <a:srgbClr val="F8FAFC"/>
                </a:solidFill>
              </a:defRPr>
            </a:pPr>
            <a:r>
              <a:t>Why Needed? Enforces hard deadlines. Instantly cancels the underlying task and diverts flow to expiry end.</a:t>
            </a:r>
          </a:p>
        </p:txBody>
      </p:sp>
      <p:sp>
        <p:nvSpPr>
          <p:cNvPr id="9" name="Rounded Rectangle 8"/>
          <p:cNvSpPr/>
          <p:nvPr/>
        </p:nvSpPr>
        <p:spPr>
          <a:xfrm>
            <a:off x="8906256" y="2286000"/>
            <a:ext cx="2542032" cy="40233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100" b="1">
                <a:solidFill>
                  <a:srgbClr val="F87171"/>
                </a:solidFill>
              </a:defRPr>
            </a:pPr>
            <a:r>
              <a:t>INTERRUPTING ERROR BOUNDARY</a:t>
            </a:r>
          </a:p>
          <a:p>
            <a:pPr>
              <a:defRPr sz="900" b="1">
                <a:solidFill>
                  <a:srgbClr val="94A3B8"/>
                </a:solidFill>
              </a:defRPr>
            </a:pPr>
            <a:r>
              <a:t>Symbol: ⚡ (Solid Ring)</a:t>
            </a:r>
          </a:p>
          <a:p>
            <a:pPr>
              <a:spcAft>
                <a:spcPts val="600"/>
              </a:spcAft>
              <a:defRPr sz="900">
                <a:solidFill>
                  <a:srgbClr val="F8FAFC"/>
                </a:solidFill>
              </a:defRPr>
            </a:pPr>
            <a:r>
              <a:t>Type: Boundary Event on Task</a:t>
            </a:r>
          </a:p>
          <a:p>
            <a:pPr>
              <a:spcAft>
                <a:spcPts val="600"/>
              </a:spcAft>
              <a:defRPr sz="850">
                <a:solidFill>
                  <a:srgbClr val="94A3B8"/>
                </a:solidFill>
              </a:defRPr>
            </a:pPr>
            <a:r>
              <a:t>Q1: 'Notification Delivery Failure'</a:t>
            </a:r>
            <a:br/>
            <a:r>
              <a:t>Catches portal/SMS outage → IT recovery.</a:t>
            </a:r>
            <a:br/>
            <a:r>
              <a:t>Q2: 'Core Banking Disbursement Fault'</a:t>
            </a:r>
            <a:br/>
            <a:r>
              <a:t>Catches NEFT/RTGS transaction failure on Disburse Funds task → Operations retry.</a:t>
            </a:r>
          </a:p>
          <a:p>
            <a:pPr>
              <a:defRPr sz="850">
                <a:solidFill>
                  <a:srgbClr val="F8FAFC"/>
                </a:solidFill>
              </a:defRPr>
            </a:pPr>
            <a:r>
              <a:t>Why Needed? Traps technical and transaction exceptions, preventing untracked financial or system states.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EXECUTION LIFECYCLE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Happy Path &amp; Business-Critical Flows (Q1 vs. Q2)</a:t>
            </a:r>
          </a:p>
        </p:txBody>
      </p:sp>
      <p:sp>
        <p:nvSpPr>
          <p:cNvPr id="5" name="Rounded Rectangle 4"/>
          <p:cNvSpPr/>
          <p:nvPr/>
        </p:nvSpPr>
        <p:spPr>
          <a:xfrm>
            <a:off x="731520" y="1371600"/>
            <a:ext cx="52120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00D2EB"/>
                </a:solidFill>
              </a:defRPr>
            </a:pPr>
            <a:r>
              <a:t>QUESTION 1 HAPPY PATH (ACADEMIC ALLOCATION)</a:t>
            </a:r>
          </a:p>
          <a:p>
            <a:pPr>
              <a:spcAft>
                <a:spcPts val="200"/>
              </a:spcAft>
              <a:defRPr sz="850">
                <a:solidFill>
                  <a:srgbClr val="F8FAFC"/>
                </a:solidFill>
              </a:defRPr>
            </a:pPr>
            <a:r>
              <a:t>1. Start Event: Student prepares and submits proposal form.</a:t>
            </a:r>
          </a:p>
          <a:p>
            <a:pPr>
              <a:spcAft>
                <a:spcPts val="200"/>
              </a:spcAft>
              <a:defRPr sz="850">
                <a:solidFill>
                  <a:srgbClr val="F8FAFC"/>
                </a:solidFill>
              </a:defRPr>
            </a:pPr>
            <a:r>
              <a:t>2. Service Task: System validates document completeness.</a:t>
            </a:r>
          </a:p>
          <a:p>
            <a:pPr>
              <a:spcAft>
                <a:spcPts val="200"/>
              </a:spcAft>
              <a:defRPr sz="850">
                <a:solidFill>
                  <a:srgbClr val="F8FAFC"/>
                </a:solidFill>
              </a:defRPr>
            </a:pPr>
            <a:r>
              <a:t>3. Service Task: System verifies team composition rules.</a:t>
            </a:r>
          </a:p>
          <a:p>
            <a:pPr>
              <a:spcAft>
                <a:spcPts val="200"/>
              </a:spcAft>
              <a:defRPr sz="850">
                <a:solidFill>
                  <a:srgbClr val="F8FAFC"/>
                </a:solidFill>
              </a:defRPr>
            </a:pPr>
            <a:r>
              <a:t>4. User Task: Coordinator screens proposal for eligibility.</a:t>
            </a:r>
          </a:p>
          <a:p>
            <a:pPr>
              <a:spcAft>
                <a:spcPts val="200"/>
              </a:spcAft>
              <a:defRPr sz="850">
                <a:solidFill>
                  <a:srgbClr val="F8FAFC"/>
                </a:solidFill>
              </a:defRPr>
            </a:pPr>
            <a:r>
              <a:t>5. Service Task: System executes similarity / duplicate check.</a:t>
            </a:r>
          </a:p>
          <a:p>
            <a:pPr>
              <a:spcAft>
                <a:spcPts val="200"/>
              </a:spcAft>
              <a:defRPr sz="850">
                <a:solidFill>
                  <a:srgbClr val="F8FAFC"/>
                </a:solidFill>
              </a:defRPr>
            </a:pPr>
            <a:r>
              <a:t>6. User Task: Review Committee evaluates and APPROVES proposal.</a:t>
            </a:r>
          </a:p>
          <a:p>
            <a:pPr>
              <a:spcAft>
                <a:spcPts val="200"/>
              </a:spcAft>
              <a:defRPr sz="850">
                <a:solidFill>
                  <a:srgbClr val="F8FAFC"/>
                </a:solidFill>
              </a:defRPr>
            </a:pPr>
            <a:r>
              <a:t>7. Business Rule Task: DMN checks guide workload and domain.</a:t>
            </a:r>
          </a:p>
          <a:p>
            <a:pPr>
              <a:spcAft>
                <a:spcPts val="200"/>
              </a:spcAft>
              <a:defRPr sz="850">
                <a:solidFill>
                  <a:srgbClr val="F8FAFC"/>
                </a:solidFill>
              </a:defRPr>
            </a:pPr>
            <a:r>
              <a:t>8. Service Task: System executes automated guide allocation.</a:t>
            </a:r>
          </a:p>
          <a:p>
            <a:pPr>
              <a:spcAft>
                <a:spcPts val="200"/>
              </a:spcAft>
              <a:defRPr sz="850">
                <a:solidFill>
                  <a:srgbClr val="F8FAFC"/>
                </a:solidFill>
              </a:defRPr>
            </a:pPr>
            <a:r>
              <a:t>9. Send Task: System dispatches allocation request to guide.</a:t>
            </a:r>
          </a:p>
          <a:p>
            <a:pPr>
              <a:spcAft>
                <a:spcPts val="200"/>
              </a:spcAft>
              <a:defRPr sz="850">
                <a:solidFill>
                  <a:srgbClr val="F8FAFC"/>
                </a:solidFill>
              </a:defRPr>
            </a:pPr>
            <a:r>
              <a:t>10. Event Catch: Guide accepts request within 3-day SLA.</a:t>
            </a:r>
          </a:p>
          <a:p>
            <a:pPr>
              <a:spcAft>
                <a:spcPts val="200"/>
              </a:spcAft>
              <a:defRPr sz="850">
                <a:solidFill>
                  <a:srgbClr val="F8FAFC"/>
                </a:solidFill>
              </a:defRPr>
            </a:pPr>
            <a:r>
              <a:t>11. Service Task: System formally records allocation in DB.</a:t>
            </a:r>
          </a:p>
          <a:p>
            <a:pPr>
              <a:spcAft>
                <a:spcPts val="200"/>
              </a:spcAft>
              <a:defRPr sz="850">
                <a:solidFill>
                  <a:srgbClr val="F8FAFC"/>
                </a:solidFill>
              </a:defRPr>
            </a:pPr>
            <a:r>
              <a:t>12. Send Task: System dispatches confirmation to student team.</a:t>
            </a:r>
          </a:p>
          <a:p>
            <a:pPr>
              <a:spcAft>
                <a:spcPts val="200"/>
              </a:spcAft>
              <a:defRPr sz="850">
                <a:solidFill>
                  <a:srgbClr val="F8FAFC"/>
                </a:solidFill>
              </a:defRPr>
            </a:pPr>
            <a:r>
              <a:t>13. User Task: Student acknowledges guide assignment.</a:t>
            </a:r>
          </a:p>
          <a:p>
            <a:pPr>
              <a:spcAft>
                <a:spcPts val="200"/>
              </a:spcAft>
              <a:defRPr sz="850">
                <a:solidFill>
                  <a:srgbClr val="F8FAFC"/>
                </a:solidFill>
              </a:defRPr>
            </a:pPr>
            <a:r>
              <a:t>14. SUCCESS END: Project Allocated &amp; Guide Confirmed.</a:t>
            </a:r>
          </a:p>
        </p:txBody>
      </p:sp>
      <p:sp>
        <p:nvSpPr>
          <p:cNvPr id="6" name="Rounded Rectangle 5"/>
          <p:cNvSpPr/>
          <p:nvPr/>
        </p:nvSpPr>
        <p:spPr>
          <a:xfrm>
            <a:off x="6217920" y="1371600"/>
            <a:ext cx="52120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34D399"/>
                </a:solidFill>
              </a:defRPr>
            </a:pPr>
            <a:r>
              <a:t>QUESTION 2 HAPPY PATH &amp; TERMINOLOGY DEFENCE</a:t>
            </a:r>
          </a:p>
          <a:p>
            <a:pPr>
              <a:spcAft>
                <a:spcPts val="200"/>
              </a:spcAft>
              <a:defRPr sz="850">
                <a:solidFill>
                  <a:srgbClr val="F8FAFC"/>
                </a:solidFill>
              </a:defRPr>
            </a:pPr>
            <a:r>
              <a:t>1. Start Event: Applicant submits loan application &amp; documents.</a:t>
            </a:r>
          </a:p>
          <a:p>
            <a:pPr>
              <a:spcAft>
                <a:spcPts val="200"/>
              </a:spcAft>
              <a:defRPr sz="850">
                <a:solidFill>
                  <a:srgbClr val="F8FAFC"/>
                </a:solidFill>
              </a:defRPr>
            </a:pPr>
            <a:r>
              <a:t>2. Service Task: Completeness check validates document schema.</a:t>
            </a:r>
          </a:p>
          <a:p>
            <a:pPr>
              <a:spcAft>
                <a:spcPts val="200"/>
              </a:spcAft>
              <a:defRPr sz="850">
                <a:solidFill>
                  <a:srgbClr val="F8FAFC"/>
                </a:solidFill>
              </a:defRPr>
            </a:pPr>
            <a:r>
              <a:t>3. Parallel Split: Triggers KYC/AML, Credit Bureau &amp; DTI checks.</a:t>
            </a:r>
          </a:p>
          <a:p>
            <a:pPr>
              <a:spcAft>
                <a:spcPts val="200"/>
              </a:spcAft>
              <a:defRPr sz="850">
                <a:solidFill>
                  <a:srgbClr val="F8FAFC"/>
                </a:solidFill>
              </a:defRPr>
            </a:pPr>
            <a:r>
              <a:t>4. Parallel Join: Synchronizes all 3 successful background checks.</a:t>
            </a:r>
          </a:p>
          <a:p>
            <a:pPr>
              <a:spcAft>
                <a:spcPts val="200"/>
              </a:spcAft>
              <a:defRPr sz="850">
                <a:solidFill>
                  <a:srgbClr val="F8FAFC"/>
                </a:solidFill>
              </a:defRPr>
            </a:pPr>
            <a:r>
              <a:t>5. User Task: Loan Officer verifies income &amp; employment.</a:t>
            </a:r>
          </a:p>
          <a:p>
            <a:pPr>
              <a:spcAft>
                <a:spcPts val="200"/>
              </a:spcAft>
              <a:defRPr sz="850">
                <a:solidFill>
                  <a:srgbClr val="F8FAFC"/>
                </a:solidFill>
              </a:defRPr>
            </a:pPr>
            <a:r>
              <a:t>6. Service Task: Scoring engine calculates Auto-Approval score.</a:t>
            </a:r>
          </a:p>
          <a:p>
            <a:pPr>
              <a:spcAft>
                <a:spcPts val="200"/>
              </a:spcAft>
              <a:defRPr sz="850">
                <a:solidFill>
                  <a:srgbClr val="F8FAFC"/>
                </a:solidFill>
              </a:defRPr>
            </a:pPr>
            <a:r>
              <a:t>7. Send Task: Officer generates &amp; dispatches loan offer letter.</a:t>
            </a:r>
          </a:p>
          <a:p>
            <a:pPr>
              <a:spcAft>
                <a:spcPts val="200"/>
              </a:spcAft>
              <a:defRPr sz="850">
                <a:solidFill>
                  <a:srgbClr val="F8FAFC"/>
                </a:solidFill>
              </a:defRPr>
            </a:pPr>
            <a:r>
              <a:t>8. User Task: Applicant reviews &amp; ACCEPTS offer within 7 days.</a:t>
            </a:r>
          </a:p>
          <a:p>
            <a:pPr>
              <a:spcAft>
                <a:spcPts val="200"/>
              </a:spcAft>
              <a:defRPr sz="850">
                <a:solidFill>
                  <a:srgbClr val="F8FAFC"/>
                </a:solidFill>
              </a:defRPr>
            </a:pPr>
            <a:r>
              <a:t>9. User Task: Applicant e-signs digital loan agreement.</a:t>
            </a:r>
          </a:p>
          <a:p>
            <a:pPr>
              <a:spcAft>
                <a:spcPts val="200"/>
              </a:spcAft>
              <a:defRPr sz="850">
                <a:solidFill>
                  <a:srgbClr val="F8FAFC"/>
                </a:solidFill>
              </a:defRPr>
            </a:pPr>
            <a:r>
              <a:t>10. Service Task &amp; End: Core Banking disburses funds via NEFT/RTGS.</a:t>
            </a:r>
          </a:p>
          <a:p>
            <a:pPr>
              <a:spcAft>
                <a:spcPts val="200"/>
              </a:spcAft>
              <a:defRPr sz="850" b="1">
                <a:solidFill>
                  <a:srgbClr val="FB923C"/>
                </a:solidFill>
              </a:defRPr>
            </a:pPr>
            <a:r>
              <a:t>--- ACADEMIC CLARIFICATION ON CRITICAL PATH ---</a:t>
            </a:r>
          </a:p>
          <a:p>
            <a:pPr>
              <a:spcAft>
                <a:spcPts val="200"/>
              </a:spcAft>
              <a:defRPr sz="850">
                <a:solidFill>
                  <a:srgbClr val="94A3B8"/>
                </a:solidFill>
              </a:defRPr>
            </a:pPr>
            <a:r>
              <a:t>• Happy Path = Ideal sequence with zero rework or failures.</a:t>
            </a:r>
          </a:p>
          <a:p>
            <a:pPr>
              <a:spcAft>
                <a:spcPts val="200"/>
              </a:spcAft>
              <a:defRPr sz="850">
                <a:solidFill>
                  <a:srgbClr val="94A3B8"/>
                </a:solidFill>
              </a:defRPr>
            </a:pPr>
            <a:r>
              <a:t>• Critical Path Method (CPM) = Longest duration path with zero slack in operations research. It requires empirical task durations (PERT distributions).</a:t>
            </a:r>
          </a:p>
          <a:p>
            <a:pPr>
              <a:spcAft>
                <a:spcPts val="200"/>
              </a:spcAft>
              <a:defRPr sz="850">
                <a:solidFill>
                  <a:srgbClr val="94A3B8"/>
                </a:solidFill>
              </a:defRPr>
            </a:pPr>
            <a:r>
              <a:t>• Academic Stance: We do NOT invent artificial task durations. We model the Happy Path as the 'Business-Critical 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FAILURE REGISTER — Q1</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Failure Path Matrix: Question 1 (Student Project)</a:t>
            </a:r>
          </a:p>
        </p:txBody>
      </p:sp>
      <p:sp>
        <p:nvSpPr>
          <p:cNvPr id="5" name="Rounded Rectangle 4"/>
          <p:cNvSpPr/>
          <p:nvPr/>
        </p:nvSpPr>
        <p:spPr>
          <a:xfrm>
            <a:off x="731520" y="1371600"/>
            <a:ext cx="106984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D2EB"/>
                </a:solidFill>
              </a:defRPr>
            </a:pPr>
            <a:r>
              <a:t>QUESTION 1 FAILURE PATH REGISTER (F1 – F6 HIGHLIGHTS)</a:t>
            </a:r>
          </a:p>
          <a:p>
            <a:pPr>
              <a:spcAft>
                <a:spcPts val="500"/>
              </a:spcAft>
            </a:pPr>
            <a:r>
              <a:rPr b="1" sz="1000">
                <a:solidFill>
                  <a:srgbClr val="00D2EB"/>
                </a:solidFill>
              </a:rPr>
              <a:t>[F1] Document Incompleteness: </a:t>
            </a:r>
            <a:r>
              <a:rPr sz="950">
                <a:solidFill>
                  <a:srgbClr val="94A3B8"/>
                </a:solidFill>
              </a:rPr>
              <a:t>Trigger: Missing sections, absent signatures, wrong document format. | </a:t>
            </a:r>
            <a:r>
              <a:rPr sz="950">
                <a:solidFill>
                  <a:srgbClr val="F8FAFC"/>
                </a:solidFill>
              </a:rPr>
              <a:t>Detection: Service Task validation schema fails → Exclusive Gateway routes to Coordinator. | </a:t>
            </a:r>
            <a:r>
              <a:rPr b="1" sz="950">
                <a:solidFill>
                  <a:srgbClr val="FB923C"/>
                </a:solidFill>
              </a:rPr>
              <a:t>Outcome: Correction Loop OR 'EndEvent: Invalid Proposal Returned'</a:t>
            </a:r>
          </a:p>
          <a:p>
            <a:pPr>
              <a:spcAft>
                <a:spcPts val="500"/>
              </a:spcAft>
            </a:pPr>
            <a:r>
              <a:rPr b="1" sz="1000">
                <a:solidFill>
                  <a:srgbClr val="00D2EB"/>
                </a:solidFill>
              </a:rPr>
              <a:t>[F2] Team Rule Violation: </a:t>
            </a:r>
            <a:r>
              <a:rPr sz="950">
                <a:solidFill>
                  <a:srgbClr val="94A3B8"/>
                </a:solidFill>
              </a:rPr>
              <a:t>Trigger: Team size below minimum, ineligible member, mixed-department rules. | </a:t>
            </a:r>
            <a:r>
              <a:rPr sz="950">
                <a:solidFill>
                  <a:srgbClr val="F8FAFC"/>
                </a:solidFill>
              </a:rPr>
              <a:t>Detection: Service Task validates rules → Exclusive Gateway branches to invalidation. | </a:t>
            </a:r>
            <a:r>
              <a:rPr b="1" sz="950">
                <a:solidFill>
                  <a:srgbClr val="FB923C"/>
                </a:solidFill>
              </a:rPr>
              <a:t>Outcome: Terminal 'EndEvent: Invalid Proposal Returned'</a:t>
            </a:r>
          </a:p>
          <a:p>
            <a:pPr>
              <a:spcAft>
                <a:spcPts val="500"/>
              </a:spcAft>
            </a:pPr>
            <a:r>
              <a:rPr b="1" sz="1000">
                <a:solidFill>
                  <a:srgbClr val="00D2EB"/>
                </a:solidFill>
              </a:rPr>
              <a:t>[F3] Duplicate / Plagiarised Topic: </a:t>
            </a:r>
            <a:r>
              <a:rPr sz="950">
                <a:solidFill>
                  <a:srgbClr val="94A3B8"/>
                </a:solidFill>
              </a:rPr>
              <a:t>Trigger: Similarity engine detects ≥ 70% overlap with existing or past projects. | </a:t>
            </a:r>
            <a:r>
              <a:rPr sz="950">
                <a:solidFill>
                  <a:srgbClr val="F8FAFC"/>
                </a:solidFill>
              </a:rPr>
              <a:t>Detection: Service Task similarity API flags score → Exclusive Gateway routes to rejection. | </a:t>
            </a:r>
            <a:r>
              <a:rPr b="1" sz="950">
                <a:solidFill>
                  <a:srgbClr val="FB923C"/>
                </a:solidFill>
              </a:rPr>
              <a:t>Outcome: Terminal 'EndEvent: Duplicate / Plagiarised Topic'</a:t>
            </a:r>
          </a:p>
          <a:p>
            <a:pPr>
              <a:spcAft>
                <a:spcPts val="500"/>
              </a:spcAft>
            </a:pPr>
            <a:r>
              <a:rPr b="1" sz="1000">
                <a:solidFill>
                  <a:srgbClr val="00D2EB"/>
                </a:solidFill>
              </a:rPr>
              <a:t>[F4] Proposal Submission Lapsed: </a:t>
            </a:r>
            <a:r>
              <a:rPr sz="950">
                <a:solidFill>
                  <a:srgbClr val="94A3B8"/>
                </a:solidFill>
              </a:rPr>
              <a:t>Trigger: Student team fails to submit proposal within the 14-day departmental window. | </a:t>
            </a:r>
            <a:r>
              <a:rPr sz="950">
                <a:solidFill>
                  <a:srgbClr val="F8FAFC"/>
                </a:solidFill>
              </a:rPr>
              <a:t>Detection: Interrupting Timer Boundary Event (14 days) fires on submission task. | </a:t>
            </a:r>
            <a:r>
              <a:rPr b="1" sz="950">
                <a:solidFill>
                  <a:srgbClr val="FB923C"/>
                </a:solidFill>
              </a:rPr>
              <a:t>Outcome: Terminal 'EndEvent: Proposal Lapsed'</a:t>
            </a:r>
          </a:p>
          <a:p>
            <a:pPr>
              <a:spcAft>
                <a:spcPts val="500"/>
              </a:spcAft>
            </a:pPr>
            <a:r>
              <a:rPr b="1" sz="1000">
                <a:solidFill>
                  <a:srgbClr val="00D2EB"/>
                </a:solidFill>
              </a:rPr>
              <a:t>[F5] Committee Revision Request: </a:t>
            </a:r>
            <a:r>
              <a:rPr sz="950">
                <a:solidFill>
                  <a:srgbClr val="94A3B8"/>
                </a:solidFill>
              </a:rPr>
              <a:t>Trigger: Committee finds proposal technically weak or overly broad, but salvageable. | </a:t>
            </a:r>
            <a:r>
              <a:rPr sz="950">
                <a:solidFill>
                  <a:srgbClr val="F8FAFC"/>
                </a:solidFill>
              </a:rPr>
              <a:t>Detection: Exclusive Gateway on committee decision selects 'Requires Revision' branch. | </a:t>
            </a:r>
            <a:r>
              <a:rPr b="1" sz="950">
                <a:solidFill>
                  <a:srgbClr val="FB923C"/>
                </a:solidFill>
              </a:rPr>
              <a:t>Outcome: Revision Loop back to Similarity Check OR Withdrawal</a:t>
            </a:r>
          </a:p>
          <a:p>
            <a:pPr>
              <a:spcAft>
                <a:spcPts val="500"/>
              </a:spcAft>
            </a:pPr>
            <a:r>
              <a:rPr b="1" sz="1000">
                <a:solidFill>
                  <a:srgbClr val="00D2EB"/>
                </a:solidFill>
              </a:rPr>
              <a:t>[F6] Committee Rejection: </a:t>
            </a:r>
            <a:r>
              <a:rPr sz="950">
                <a:solidFill>
                  <a:srgbClr val="94A3B8"/>
                </a:solidFill>
              </a:rPr>
              <a:t>Trigger: Proposal judged academically infeasible, out of scope, or non-viable. | </a:t>
            </a:r>
            <a:r>
              <a:rPr sz="950">
                <a:solidFill>
                  <a:srgbClr val="F8FAFC"/>
                </a:solidFill>
              </a:rPr>
              <a:t>Detection: Exclusive Gateway on committee decision selects 'Rejected' branch. | </a:t>
            </a:r>
            <a:r>
              <a:rPr b="1" sz="950">
                <a:solidFill>
                  <a:srgbClr val="FB923C"/>
                </a:solidFill>
              </a:rPr>
              <a:t>Outcome: Terminal 'EndEvent: Proposal Rejected'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FAILURE REGISTER — Q2</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Failure Path Matrix: Question 2 (Loan Origination)</a:t>
            </a:r>
          </a:p>
        </p:txBody>
      </p:sp>
      <p:sp>
        <p:nvSpPr>
          <p:cNvPr id="5" name="Rounded Rectangle 4"/>
          <p:cNvSpPr/>
          <p:nvPr/>
        </p:nvSpPr>
        <p:spPr>
          <a:xfrm>
            <a:off x="731520" y="1371600"/>
            <a:ext cx="106984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34D399"/>
                </a:solidFill>
              </a:defRPr>
            </a:pPr>
            <a:r>
              <a:t>QUESTION 2 FAILURE PATH REGISTER (L1 – L6 HIGHLIGHTS)</a:t>
            </a:r>
          </a:p>
          <a:p>
            <a:pPr>
              <a:spcAft>
                <a:spcPts val="500"/>
              </a:spcAft>
            </a:pPr>
            <a:r>
              <a:rPr b="1" sz="1000">
                <a:solidFill>
                  <a:srgbClr val="34D399"/>
                </a:solidFill>
              </a:rPr>
              <a:t>[L1] Document Completeness: </a:t>
            </a:r>
            <a:r>
              <a:rPr sz="950">
                <a:solidFill>
                  <a:srgbClr val="94A3B8"/>
                </a:solidFill>
              </a:rPr>
              <a:t>Trigger: Missing income proof, illegible PAN/Aadhaar scans, invalid file format. | </a:t>
            </a:r>
            <a:r>
              <a:rPr sz="950">
                <a:solidFill>
                  <a:srgbClr val="F8FAFC"/>
                </a:solidFill>
              </a:rPr>
              <a:t>Detection: Service Task completeness validation schema fails → Exclusive Gateway routes. | </a:t>
            </a:r>
            <a:r>
              <a:rPr b="1" sz="950">
                <a:solidFill>
                  <a:srgbClr val="FB923C"/>
                </a:solidFill>
              </a:rPr>
              <a:t>Outcome: Correction Loop OR 'EndEvent: Application Lapsed'</a:t>
            </a:r>
          </a:p>
          <a:p>
            <a:pPr>
              <a:spcAft>
                <a:spcPts val="500"/>
              </a:spcAft>
            </a:pPr>
            <a:r>
              <a:rPr b="1" sz="1000">
                <a:solidFill>
                  <a:srgbClr val="34D399"/>
                </a:solidFill>
              </a:rPr>
              <a:t>[L2] KYC Identity Mismatch: </a:t>
            </a:r>
            <a:r>
              <a:rPr sz="950">
                <a:solidFill>
                  <a:srgbClr val="94A3B8"/>
                </a:solidFill>
              </a:rPr>
              <a:t>Trigger: Name misspelling, date of birth mismatch against government database. | </a:t>
            </a:r>
            <a:r>
              <a:rPr sz="950">
                <a:solidFill>
                  <a:srgbClr val="F8FAFC"/>
                </a:solidFill>
              </a:rPr>
              <a:t>Detection: KYC Service Task returns API error code → Exclusive Gateway branches. | </a:t>
            </a:r>
            <a:r>
              <a:rPr b="1" sz="950">
                <a:solidFill>
                  <a:srgbClr val="FB923C"/>
                </a:solidFill>
              </a:rPr>
              <a:t>Outcome: Manual Clearance OR 'EndEvent: Fraud Terminated'</a:t>
            </a:r>
          </a:p>
          <a:p>
            <a:pPr>
              <a:spcAft>
                <a:spcPts val="500"/>
              </a:spcAft>
            </a:pPr>
            <a:r>
              <a:rPr b="1" sz="1000">
                <a:solidFill>
                  <a:srgbClr val="34D399"/>
                </a:solidFill>
              </a:rPr>
              <a:t>[L3] AML Watchlist Flag: </a:t>
            </a:r>
            <a:r>
              <a:rPr sz="950">
                <a:solidFill>
                  <a:srgbClr val="94A3B8"/>
                </a:solidFill>
              </a:rPr>
              <a:t>Trigger: Applicant matches PEP lists, sanction registries, or financial crime DB. | </a:t>
            </a:r>
            <a:r>
              <a:rPr sz="950">
                <a:solidFill>
                  <a:srgbClr val="F8FAFC"/>
                </a:solidFill>
              </a:rPr>
              <a:t>Detection: AML Service Task flags risk score ≥ threshold → Exclusive Gateway routes to probe. | </a:t>
            </a:r>
            <a:r>
              <a:rPr b="1" sz="950">
                <a:solidFill>
                  <a:srgbClr val="FB923C"/>
                </a:solidFill>
              </a:rPr>
              <a:t>Outcome: Terminal 'EndEvent: Application Terminated – Fraud/AML'</a:t>
            </a:r>
          </a:p>
          <a:p>
            <a:pPr>
              <a:spcAft>
                <a:spcPts val="500"/>
              </a:spcAft>
            </a:pPr>
            <a:r>
              <a:rPr b="1" sz="1000">
                <a:solidFill>
                  <a:srgbClr val="34D399"/>
                </a:solidFill>
              </a:rPr>
              <a:t>[L4] Credit Bureau Timeout: </a:t>
            </a:r>
            <a:r>
              <a:rPr sz="950">
                <a:solidFill>
                  <a:srgbClr val="94A3B8"/>
                </a:solidFill>
              </a:rPr>
              <a:t>Trigger: Credit bureau service unresponsive, network partition, timeout &gt; 24 hours. | </a:t>
            </a:r>
            <a:r>
              <a:rPr sz="950">
                <a:solidFill>
                  <a:srgbClr val="F8FAFC"/>
                </a:solidFill>
              </a:rPr>
              <a:t>Detection: Non-interrupting Timer Boundary Event (24h) fires on outbound request task. | </a:t>
            </a:r>
            <a:r>
              <a:rPr b="1" sz="950">
                <a:solidFill>
                  <a:srgbClr val="FB923C"/>
                </a:solidFill>
              </a:rPr>
              <a:t>Outcome: Resilient Catch on retry OR manual credit assessment fallback</a:t>
            </a:r>
          </a:p>
          <a:p>
            <a:pPr>
              <a:spcAft>
                <a:spcPts val="500"/>
              </a:spcAft>
            </a:pPr>
            <a:r>
              <a:rPr b="1" sz="1000">
                <a:solidFill>
                  <a:srgbClr val="34D399"/>
                </a:solidFill>
              </a:rPr>
              <a:t>[L5] Credit Score Rejection: </a:t>
            </a:r>
            <a:r>
              <a:rPr sz="950">
                <a:solidFill>
                  <a:srgbClr val="94A3B8"/>
                </a:solidFill>
              </a:rPr>
              <a:t>Trigger: Report returns credit bureau score below minimum underwriting floor (&lt; 600). | </a:t>
            </a:r>
            <a:r>
              <a:rPr sz="950">
                <a:solidFill>
                  <a:srgbClr val="F8FAFC"/>
                </a:solidFill>
              </a:rPr>
              <a:t>Detection: Credit Bureau gateway evaluates score; feeds failed attribute into parallel join. | </a:t>
            </a:r>
            <a:r>
              <a:rPr b="1" sz="950">
                <a:solidFill>
                  <a:srgbClr val="FB923C"/>
                </a:solidFill>
              </a:rPr>
              <a:t>Outcome: Terminal 'EndEvent: Loan Rejected – Low Credit Score'</a:t>
            </a:r>
          </a:p>
          <a:p>
            <a:pPr>
              <a:spcAft>
                <a:spcPts val="500"/>
              </a:spcAft>
            </a:pPr>
            <a:r>
              <a:rPr b="1" sz="1000">
                <a:solidFill>
                  <a:srgbClr val="34D399"/>
                </a:solidFill>
              </a:rPr>
              <a:t>[L6] Excessive DTI Ratio: </a:t>
            </a:r>
            <a:r>
              <a:rPr sz="950">
                <a:solidFill>
                  <a:srgbClr val="94A3B8"/>
                </a:solidFill>
              </a:rPr>
              <a:t>Trigger: Applicant liabilities result in debt-to-income ratio exceeding 50% limit. | </a:t>
            </a:r>
            <a:r>
              <a:rPr sz="950">
                <a:solidFill>
                  <a:srgbClr val="F8FAFC"/>
                </a:solidFill>
              </a:rPr>
              <a:t>Detection: Automated DTI Service Task computes ratio &gt; threshold → Exclusive Gateway routes. | </a:t>
            </a:r>
            <a:r>
              <a:rPr b="1" sz="950">
                <a:solidFill>
                  <a:srgbClr val="FB923C"/>
                </a:solidFill>
              </a:rPr>
              <a:t>Outcome: Terminal 'EndEvent: Loan Rejected – Excessive DTI'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BRANCHING LOGIC</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Alternate Paths &amp; Exception Loops (Q1 &amp; Q2)</a:t>
            </a:r>
          </a:p>
        </p:txBody>
      </p:sp>
      <p:sp>
        <p:nvSpPr>
          <p:cNvPr id="5" name="Rounded Rectangle 4"/>
          <p:cNvSpPr/>
          <p:nvPr/>
        </p:nvSpPr>
        <p:spPr>
          <a:xfrm>
            <a:off x="731520" y="1371600"/>
            <a:ext cx="52120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D2EB"/>
                </a:solidFill>
              </a:defRPr>
            </a:pPr>
            <a:r>
              <a:t>QUESTION 1: ACADEMIC EXCEPTION LOOPS</a:t>
            </a:r>
          </a:p>
          <a:p>
            <a:pPr>
              <a:spcAft>
                <a:spcPts val="800"/>
              </a:spcAft>
            </a:pPr>
            <a:r>
              <a:rPr b="1" sz="1000">
                <a:solidFill>
                  <a:srgbClr val="F8FAFC"/>
                </a:solidFill>
              </a:rPr>
              <a:t>Committee Revision Loop (F5): </a:t>
            </a:r>
            <a:r>
              <a:rPr sz="950">
                <a:solidFill>
                  <a:srgbClr val="94A3B8"/>
                </a:solidFill>
              </a:rPr>
              <a:t>When the committee demands revisions, an Exclusive Gateway routes to 'Send Revision Feedback'. The student receives the feedback via an Intermediate Message Catch Event, revises the proposal, and resubmits. To prevent infinite loops, the process enforces a maximum of 2 revision cycles before forcing an approve/reject decision.</a:t>
            </a:r>
          </a:p>
          <a:p>
            <a:pPr>
              <a:spcAft>
                <a:spcPts val="800"/>
              </a:spcAft>
            </a:pPr>
            <a:r>
              <a:rPr b="1" sz="1000">
                <a:solidFill>
                  <a:srgbClr val="F8FAFC"/>
                </a:solidFill>
              </a:rPr>
              <a:t>Guide Decline &amp; Re-Allocation Loop (F8/F9): </a:t>
            </a:r>
            <a:r>
              <a:rPr sz="950">
                <a:solidFill>
                  <a:srgbClr val="94A3B8"/>
                </a:solidFill>
              </a:rPr>
              <a:t>When a faculty guide declines or the 3-day timer expires, the flow branches to Coordinator Manual Allocation. The coordinator can assign an alternate faculty member, appoint a co-guide, or place the team on a waitlist. If manual allocation succeeds, the flow rejoins confirmation; otherwise it ends at 'No Guide Available'.</a:t>
            </a:r>
          </a:p>
        </p:txBody>
      </p:sp>
      <p:sp>
        <p:nvSpPr>
          <p:cNvPr id="6" name="Rounded Rectangle 5"/>
          <p:cNvSpPr/>
          <p:nvPr/>
        </p:nvSpPr>
        <p:spPr>
          <a:xfrm>
            <a:off x="6217920" y="1371600"/>
            <a:ext cx="52120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34D399"/>
                </a:solidFill>
              </a:defRPr>
            </a:pPr>
            <a:r>
              <a:t>QUESTION 2: BANKING EXCEPTION LOOPS</a:t>
            </a:r>
          </a:p>
          <a:p>
            <a:pPr>
              <a:spcAft>
                <a:spcPts val="800"/>
              </a:spcAft>
            </a:pPr>
            <a:r>
              <a:rPr b="1" sz="1000">
                <a:solidFill>
                  <a:srgbClr val="F8FAFC"/>
                </a:solidFill>
              </a:rPr>
              <a:t>Underwriting &amp; Collateral Loop (L7/L8): </a:t>
            </a:r>
            <a:r>
              <a:rPr sz="950">
                <a:solidFill>
                  <a:srgbClr val="94A3B8"/>
                </a:solidFill>
              </a:rPr>
              <a:t>Borderline scores (600–749) divert from auto-approval to 'Underwriter Full Manual Review'. If unsecured credit is too risky, the underwriter requests collateral valuation. If the appraised Loan-to-Value (LTV) is insufficient, 'Re-Underwrite' loops back with adjusted loan amounts, preventing premature rejection.</a:t>
            </a:r>
          </a:p>
          <a:p>
            <a:pPr>
              <a:spcAft>
                <a:spcPts val="800"/>
              </a:spcAft>
            </a:pPr>
            <a:r>
              <a:rPr b="1" sz="1000">
                <a:solidFill>
                  <a:srgbClr val="F8FAFC"/>
                </a:solidFill>
              </a:rPr>
              <a:t>Applicant Counter-Offer Negotiation (L10): </a:t>
            </a:r>
            <a:r>
              <a:rPr sz="950">
                <a:solidFill>
                  <a:srgbClr val="94A3B8"/>
                </a:solidFill>
              </a:rPr>
              <a:t>Upon receiving the loan offer, the applicant can select 'Counter-Offer'. A Loan Officer manually reviews the requested rate/tenor adjustments. If accepted, negotiated terms are finalized; if rejected, the application concludes as rejected or withdrawn.</a:t>
            </a:r>
          </a:p>
          <a:p>
            <a:pPr>
              <a:spcAft>
                <a:spcPts val="800"/>
              </a:spcAft>
            </a:pPr>
            <a:r>
              <a:rPr b="1" sz="1000">
                <a:solidFill>
                  <a:srgbClr val="F8FAFC"/>
                </a:solidFill>
              </a:rPr>
              <a:t>Disbursement Fault Retry (L12): </a:t>
            </a:r>
            <a:r>
              <a:rPr sz="950">
                <a:solidFill>
                  <a:srgbClr val="94A3B8"/>
                </a:solidFill>
              </a:rPr>
              <a:t>An Interrupting Error Boundary Event catches RTGS/NEFT failures, routing to Operations for manual fallback retry without risking double debit.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FAULT ARCHITECTURE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Process Robustness, Recovery &amp; Governance</a:t>
            </a:r>
          </a:p>
        </p:txBody>
      </p:sp>
      <p:sp>
        <p:nvSpPr>
          <p:cNvPr id="5" name="Rounded Rectangle 4"/>
          <p:cNvSpPr/>
          <p:nvPr/>
        </p:nvSpPr>
        <p:spPr>
          <a:xfrm>
            <a:off x="731520" y="1371600"/>
            <a:ext cx="10698480" cy="109728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150" b="1">
                <a:solidFill>
                  <a:srgbClr val="00D2EB"/>
                </a:solidFill>
              </a:defRPr>
            </a:pPr>
            <a:r>
              <a:t>🔁  RETRY LIMITS &amp; LOOP CONTROL</a:t>
            </a:r>
          </a:p>
          <a:p>
            <a:pPr>
              <a:defRPr sz="950">
                <a:solidFill>
                  <a:srgbClr val="F8FAFC"/>
                </a:solidFill>
              </a:defRPr>
            </a:pPr>
            <a:r>
              <a:t>Uncontrolled loops create infinite execution deadlocks. Both models enforce strict loop counters: Question 1 limits committee revision cycles to 2 iterations and document resubmissions to 2 attempts. Question 2 bounds credit bureau retries and applicant document corrections with explicit lapse timers.</a:t>
            </a:r>
          </a:p>
        </p:txBody>
      </p:sp>
      <p:sp>
        <p:nvSpPr>
          <p:cNvPr id="6" name="Rounded Rectangle 5"/>
          <p:cNvSpPr/>
          <p:nvPr/>
        </p:nvSpPr>
        <p:spPr>
          <a:xfrm>
            <a:off x="731520" y="2606040"/>
            <a:ext cx="10698480" cy="109728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150" b="1">
                <a:solidFill>
                  <a:srgbClr val="34D399"/>
                </a:solidFill>
              </a:defRPr>
            </a:pPr>
            <a:r>
              <a:t>⏰  SLA TIMERS &amp; ESCALATION</a:t>
            </a:r>
          </a:p>
          <a:p>
            <a:pPr>
              <a:defRPr sz="950">
                <a:solidFill>
                  <a:srgbClr val="F8FAFC"/>
                </a:solidFill>
              </a:defRPr>
            </a:pPr>
            <a:r>
              <a:t>Deadlines prevent applications from stalling silently. We use Interrupting Timers for hard cut-offs (Q1 14-day submission deadline, Q2 7-day offer acceptance expiry) and Non-Interrupting Timers for administrative reminders (Q1 10-day committee review SLA escalation to HoD, Q2 48-hour e-sign alert).</a:t>
            </a:r>
          </a:p>
        </p:txBody>
      </p:sp>
      <p:sp>
        <p:nvSpPr>
          <p:cNvPr id="7" name="Rounded Rectangle 6"/>
          <p:cNvSpPr/>
          <p:nvPr/>
        </p:nvSpPr>
        <p:spPr>
          <a:xfrm>
            <a:off x="731520" y="3840480"/>
            <a:ext cx="10698480" cy="109728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150" b="1">
                <a:solidFill>
                  <a:srgbClr val="60A5FA"/>
                </a:solidFill>
              </a:defRPr>
            </a:pPr>
            <a:r>
              <a:t>👥  HUMAN-IN-THE-LOOP FALLBACK</a:t>
            </a:r>
          </a:p>
          <a:p>
            <a:pPr>
              <a:defRPr sz="950">
                <a:solidFill>
                  <a:srgbClr val="F8FAFC"/>
                </a:solidFill>
              </a:defRPr>
            </a:pPr>
            <a:r>
              <a:t>Automated services can yield false negatives. When automated DMN guide allocation in Q1 finds no available guide, it falls back to a Coordinator User Task. When automated KYC in Q2 fails, a Compliance Officer manually adjudicates the document, maintaining high conversion rates.</a:t>
            </a:r>
          </a:p>
        </p:txBody>
      </p:sp>
      <p:sp>
        <p:nvSpPr>
          <p:cNvPr id="8" name="Rounded Rectangle 7"/>
          <p:cNvSpPr/>
          <p:nvPr/>
        </p:nvSpPr>
        <p:spPr>
          <a:xfrm>
            <a:off x="731520" y="5074920"/>
            <a:ext cx="10698480" cy="109728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150" b="1">
                <a:solidFill>
                  <a:srgbClr val="C084FC"/>
                </a:solidFill>
              </a:defRPr>
            </a:pPr>
            <a:r>
              <a:t>⚖️  FORWARD RECOVERY VS. TRANSACTIONAL COMPENSATION</a:t>
            </a:r>
          </a:p>
          <a:p>
            <a:pPr>
              <a:defRPr sz="950">
                <a:solidFill>
                  <a:srgbClr val="F8FAFC"/>
                </a:solidFill>
              </a:defRPr>
            </a:pPr>
            <a:r>
              <a:t>In BPMN 2.0, Forward Recovery resolves active faults through retries and alternate branches (e.g., Q2 Core Banking disbursement error boundary). Backward Compensation cancels committed milestones. Q1 uses script compensation to release guide pre-allocations if a student withdraws.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MODEL GOVERNANCE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Design Decisions, Validation &amp; Limitations</a:t>
            </a:r>
          </a:p>
        </p:txBody>
      </p:sp>
      <p:sp>
        <p:nvSpPr>
          <p:cNvPr id="5" name="Rounded Rectangle 4"/>
          <p:cNvSpPr/>
          <p:nvPr/>
        </p:nvSpPr>
        <p:spPr>
          <a:xfrm>
            <a:off x="731520" y="1371600"/>
            <a:ext cx="52120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34D399"/>
                </a:solidFill>
              </a:defRPr>
            </a:pPr>
            <a:r>
              <a:t>MODELLING RIGOR &amp; VALIDATION PROOF</a:t>
            </a:r>
          </a:p>
          <a:p>
            <a:pPr>
              <a:spcAft>
                <a:spcPts val="800"/>
              </a:spcAft>
            </a:pPr>
            <a:r>
              <a:rPr b="1" sz="1000">
                <a:solidFill>
                  <a:srgbClr val="F8FAFC"/>
                </a:solidFill>
              </a:rPr>
              <a:t>✔ Strict Pool vs. Lane Boundary Discipline: </a:t>
            </a:r>
            <a:r>
              <a:rPr sz="950">
                <a:solidFill>
                  <a:srgbClr val="94A3B8"/>
                </a:solidFill>
              </a:rPr>
              <a:t>In BPMN 2.0, Sequence Flows can NEVER cross Pool boundaries. In Question 2, the external Credit Bureau is modelled as an independent Pool, and all communication uses Message Flows. In Question 1, internal lanes cleanly isolate academic roles.</a:t>
            </a:r>
          </a:p>
          <a:p>
            <a:pPr>
              <a:spcAft>
                <a:spcPts val="800"/>
              </a:spcAft>
            </a:pPr>
            <a:r>
              <a:rPr b="1" sz="1000">
                <a:solidFill>
                  <a:srgbClr val="F8FAFC"/>
                </a:solidFill>
              </a:rPr>
              <a:t>✔ Camunda Modeler 5.49 &amp; bpmn-js Schema Validation: </a:t>
            </a:r>
            <a:r>
              <a:rPr sz="950">
                <a:solidFill>
                  <a:srgbClr val="94A3B8"/>
                </a:solidFill>
              </a:rPr>
              <a:t>Both `.bpmn` files were validated against official OMG BPMN 2.0 schemas. Diagrams parsed and rendered without XML syntax errors, containment flaws, or broken sequence references.</a:t>
            </a:r>
          </a:p>
          <a:p>
            <a:pPr>
              <a:spcAft>
                <a:spcPts val="800"/>
              </a:spcAft>
            </a:pPr>
            <a:r>
              <a:rPr b="1" sz="1000">
                <a:solidFill>
                  <a:srgbClr val="F8FAFC"/>
                </a:solidFill>
              </a:rPr>
              <a:t>✔ Deterministic Gateways: </a:t>
            </a:r>
            <a:r>
              <a:rPr sz="950">
                <a:solidFill>
                  <a:srgbClr val="94A3B8"/>
                </a:solidFill>
              </a:rPr>
              <a:t>Synchronized Parallel Joins prevent race conditions; Exclusive Gateways guarantee single-token determinism.</a:t>
            </a:r>
          </a:p>
        </p:txBody>
      </p:sp>
      <p:sp>
        <p:nvSpPr>
          <p:cNvPr id="6" name="Rounded Rectangle 5"/>
          <p:cNvSpPr/>
          <p:nvPr/>
        </p:nvSpPr>
        <p:spPr>
          <a:xfrm>
            <a:off x="6217920" y="1371600"/>
            <a:ext cx="521208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B923C"/>
                </a:solidFill>
              </a:defRPr>
            </a:pPr>
            <a:r>
              <a:t>ACADEMIC LIMITATIONS &amp; FUTURE PROPOSALS</a:t>
            </a:r>
          </a:p>
          <a:p>
            <a:pPr>
              <a:spcAft>
                <a:spcPts val="800"/>
              </a:spcAft>
            </a:pPr>
            <a:r>
              <a:rPr b="1" sz="1000">
                <a:solidFill>
                  <a:srgbClr val="F8FAFC"/>
                </a:solidFill>
              </a:rPr>
              <a:t>🔍 DMN Decision Table Expansion: </a:t>
            </a:r>
            <a:r>
              <a:rPr sz="950">
                <a:solidFill>
                  <a:srgbClr val="94A3B8"/>
                </a:solidFill>
              </a:rPr>
              <a:t>While Question 1 uses Business Rule Tasks for guide matching, Question 2 currently encapsulates risk scoring inside Service Tasks. Future work should extract banking scoring into external DMN decision tables.</a:t>
            </a:r>
          </a:p>
          <a:p>
            <a:pPr>
              <a:spcAft>
                <a:spcPts val="800"/>
              </a:spcAft>
            </a:pPr>
            <a:r>
              <a:rPr b="1" sz="1000">
                <a:solidFill>
                  <a:srgbClr val="F8FAFC"/>
                </a:solidFill>
              </a:rPr>
              <a:t>🔍 Global Event Sub-Processes for Cancellation: </a:t>
            </a:r>
            <a:r>
              <a:rPr sz="950">
                <a:solidFill>
                  <a:srgbClr val="94A3B8"/>
                </a:solidFill>
              </a:rPr>
              <a:t>Withdrawal is currently modelled at specific gateway points. Implementing an Interrupting Event Sub-Process with a Message Start Event would allow cancellation at ANY active stage in both systems.</a:t>
            </a:r>
          </a:p>
          <a:p>
            <a:pPr>
              <a:spcAft>
                <a:spcPts val="800"/>
              </a:spcAft>
            </a:pPr>
            <a:r>
              <a:rPr b="1" sz="1000">
                <a:solidFill>
                  <a:srgbClr val="F8FAFC"/>
                </a:solidFill>
              </a:rPr>
              <a:t>🔍 Transactional Sub-Processes for Disbursement: </a:t>
            </a:r>
            <a:r>
              <a:rPr sz="950">
                <a:solidFill>
                  <a:srgbClr val="94A3B8"/>
                </a:solidFill>
              </a:rPr>
              <a:t>Encapsulating disbursement, ledger reservation, and notification in a Transactional Sub-Process would provide atomic compensation guarantees.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18263E"/>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EB"/>
                </a:solidFill>
                <a:latin typeface="Arial"/>
              </a:defRPr>
            </a:pPr>
            <a:r>
              <a:t>PROJECT SYNTHESIS</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F8FAFC"/>
                </a:solidFill>
                <a:latin typeface="Arial"/>
              </a:defRPr>
            </a:pPr>
            <a:r>
              <a:t>Conclusion &amp; Academic Defence</a:t>
            </a:r>
          </a:p>
        </p:txBody>
      </p:sp>
      <p:sp>
        <p:nvSpPr>
          <p:cNvPr id="5" name="Rounded Rectangle 4"/>
          <p:cNvSpPr/>
          <p:nvPr/>
        </p:nvSpPr>
        <p:spPr>
          <a:xfrm>
            <a:off x="731520" y="1371600"/>
            <a:ext cx="6400800" cy="4937760"/>
          </a:xfrm>
          <a:prstGeom prst="roundRect">
            <a:avLst/>
          </a:prstGeom>
          <a:solidFill>
            <a:srgbClr val="18263E"/>
          </a:solidFill>
          <a:ln w="12700">
            <a:solidFill>
              <a:srgbClr val="2D44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200" b="1">
                <a:solidFill>
                  <a:srgbClr val="00D2EB"/>
                </a:solidFill>
              </a:defRPr>
            </a:pPr>
            <a:r>
              <a:t>KEY ACADEMIC &amp; PRACTICAL TAKEAWAYS</a:t>
            </a:r>
          </a:p>
          <a:p>
            <a:pPr>
              <a:spcAft>
                <a:spcPts val="1000"/>
              </a:spcAft>
            </a:pPr>
            <a:r>
              <a:rPr b="1" sz="1050">
                <a:solidFill>
                  <a:srgbClr val="F8FAFC"/>
                </a:solidFill>
              </a:rPr>
              <a:t>✔ Comprehensive Dual-Domain Modelling: </a:t>
            </a:r>
            <a:r>
              <a:rPr sz="1000">
                <a:solidFill>
                  <a:srgbClr val="94A3B8"/>
                </a:solidFill>
              </a:rPr>
              <a:t>Successfully modelled two diverse workflows—academic capstone allocation (Q1) and commercial retail lending (Q2)—demonstrating the flexibility of BPMN 2.0.</a:t>
            </a:r>
          </a:p>
          <a:p>
            <a:pPr>
              <a:spcAft>
                <a:spcPts val="1000"/>
              </a:spcAft>
            </a:pPr>
            <a:r>
              <a:rPr b="1" sz="1050">
                <a:solidFill>
                  <a:srgbClr val="F8FAFC"/>
                </a:solidFill>
              </a:rPr>
              <a:t>✔ Complete Failure Path Coverage: </a:t>
            </a:r>
            <a:r>
              <a:rPr sz="1000">
                <a:solidFill>
                  <a:srgbClr val="94A3B8"/>
                </a:solidFill>
              </a:rPr>
              <a:t>Engineered 11 failure paths for Question 1 and 12 failure paths for Question 2, covering data validation, timeouts, policy rejections, and system faults.</a:t>
            </a:r>
          </a:p>
          <a:p>
            <a:pPr>
              <a:spcAft>
                <a:spcPts val="1000"/>
              </a:spcAft>
            </a:pPr>
            <a:r>
              <a:rPr b="1" sz="1050">
                <a:solidFill>
                  <a:srgbClr val="F8FAFC"/>
                </a:solidFill>
              </a:rPr>
              <a:t>✔ Advanced Execution Semantics: </a:t>
            </a:r>
            <a:r>
              <a:rPr sz="1000">
                <a:solidFill>
                  <a:srgbClr val="94A3B8"/>
                </a:solidFill>
              </a:rPr>
              <a:t>Demonstrated mastery of Parallel Gateways (concurrency), Exclusive Gateways (decisions), Event-Based Gateways (competing events), and both Interrupting and Non-Interrupting Boundary Events.</a:t>
            </a:r>
          </a:p>
          <a:p>
            <a:pPr>
              <a:spcAft>
                <a:spcPts val="1000"/>
              </a:spcAft>
            </a:pPr>
            <a:r>
              <a:rPr b="1" sz="1050">
                <a:solidFill>
                  <a:srgbClr val="F8FAFC"/>
                </a:solidFill>
              </a:rPr>
              <a:t>✔ Production-Ready Engineering: </a:t>
            </a:r>
            <a:r>
              <a:rPr sz="1000">
                <a:solidFill>
                  <a:srgbClr val="94A3B8"/>
                </a:solidFill>
              </a:rPr>
              <a:t>Delivered validated BPMN 2.0 XML files, comprehensive Failure Path Registers, and full Task/Gateway Justification documents.</a:t>
            </a:r>
          </a:p>
        </p:txBody>
      </p:sp>
      <p:sp>
        <p:nvSpPr>
          <p:cNvPr id="6" name="Rounded Rectangle 5"/>
          <p:cNvSpPr/>
          <p:nvPr/>
        </p:nvSpPr>
        <p:spPr>
          <a:xfrm>
            <a:off x="7406640" y="1371600"/>
            <a:ext cx="4023360" cy="4937760"/>
          </a:xfrm>
          <a:prstGeom prst="roundRect">
            <a:avLst/>
          </a:prstGeom>
          <a:solidFill>
            <a:srgbClr val="1E3050"/>
          </a:solidFill>
          <a:ln w="12700">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2800" b="1">
                <a:solidFill>
                  <a:srgbClr val="00D2EB"/>
                </a:solidFill>
              </a:defRPr>
            </a:pPr>
            <a:br/>
            <a:br/>
            <a:r>
              <a:t>THANK YOU!</a:t>
            </a:r>
          </a:p>
          <a:p>
            <a:pPr algn="ctr">
              <a:spcAft>
                <a:spcPts val="2000"/>
              </a:spcAft>
              <a:defRPr sz="1600" b="1">
                <a:solidFill>
                  <a:srgbClr val="F8FAFC"/>
                </a:solidFill>
              </a:defRPr>
            </a:pPr>
            <a:r>
              <a:t>Questions &amp; Academic Discussion</a:t>
            </a:r>
          </a:p>
          <a:p>
            <a:pPr algn="ctr">
              <a:defRPr sz="1200">
                <a:solidFill>
                  <a:srgbClr val="94A3B8"/>
                </a:solidFill>
              </a:defRPr>
            </a:pPr>
            <a:r>
              <a:t>Presenter: Mayank Singh</a:t>
            </a:r>
            <a:br/>
            <a:r>
              <a:t>Reg. No: RA2411003010116</a:t>
            </a:r>
            <a:br/>
            <a:r>
              <a:t>Course: Workflow Automation</a:t>
            </a:r>
            <a:br/>
            <a:r>
              <a:t>SRMIST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