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Professor and classmates. My name is Mayank Singh, registration number RA2411003010116, presenting our academic project for the Workflow Automation course at SRMIST. Today, I will walk you through our comprehensive BPMN 2.0 process model for the Loan Origination and Approval System. In enterprise banking, loan origination is one of the most critical and complex workflows because it balances customer satisfaction, strict regulatory compliance like KYC and AML, and credit risk control. Rather than modelling a naive 'happy path', our model captures the full end-to-end reality: deterministic concurrency using Parallel Gateways, asynchronous collaboration with external credit bureaus, and 12 granular failure paths with robust boundary event handling. Let us begin by examining the core problem and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2, we define the real-world operational problem. In retail banking, loan applications frequently suffer from high abandonment rates and multi-week processing delays. When loan officers rely on email chains and manual handoffs, compliance violations occur, and applications stall silently when external credit agencies fail to respond. Our objective in this project is to model a rigorous, production-grade automated process. We divide the work across six internal departments and one external partner. We chose BPMN 2.0 over traditional UML activity diagrams or flowcharts because BPMN provides formal execution semantics: it explicitly defines who does what via swimlanes, prevents deadlock using synchronized gateways, and handles asynchronous timeouts via boundary events.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presents the macro-architecture of our entire BPMN 2.0 model, generated directly from our Camunda XML deliverable. As shown in the diagram on the left, the model features a primary pool representing the commercial bank, structured into six functional lanes, and a completely separate external pool for the Credit Bureau. Notice the process boundaries: the lifecycle begins with an untyped Start Event where the applicant submits documents through the portal, and concludes successfully with the 'Loan Disbursed' end event. However, rather than a linear pipeline, the model contains multiple parallel splits, loops for document correction, and six distinct terminal failure end events. Every flow node belongs strictly to the lane responsible for its execution.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covers our first mandatory core topic: Task Types Used. In BPMN 2.0, an unadorned task has no execution semantics. Therefore, every single task in our model was assigned a deliberate type based on its runtime behaviour. We utilized four distinct task constructs: First, User Tasks for human interactions requiring portal forms or expert decision-making, such as Underwriter Manual Review. Second, Service Tasks for automated computations and API integrations, such as KYC verification and Core Banking disbursement. Third, Send Tasks for dispatching outbound messages, such as requesting a credit score from the Credit Bureau. Fourth, Receive Events for asynchronously catching incoming messages. Importantly, we did not use Script Tasks because calculations like DTI and eligibility involve enterprise business logic and external database lookups, which are properly modelled as Service Tasks in an enterprise SOA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details the Gateway architecture. In process modelling, gateways control the divergence and convergence of sequence flows. Our model relies on two primary gateway types: the Parallel Gateway and the Exclusive Gateway. The Parallel Gateway is critical for our verification stage: once document completeness passes, we fork execution into three concurrent streams: KYC and AML compliance, external Credit Bureau report retrieval, and Debt-to-Income ratio calculation. The Parallel Join ensures synchronization—the process cannot prematurely advance to income verification until all three background branches complete. Every other decision point—such as eligibility scoring and applicant offer acceptance—uses an Exclusive Gateway (XOR). A common viva question is why we did not use an Inclusive Gateway (OR). We explain clearly here: loan adjudication outcomes are strictly mutually exclusive. You cannot simultaneously approve and reject an application. XOR enforces mathematical determinism.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provides our deep-dive into Intermediate and Boundary Events, which is a mandatory topic in the evaluation rubric. It is crucial to avoid mislabeling boundary events as inline flow events. We clearly demonstrate the architectural difference: inline events sit directly in the sequence flow, while boundary events attach to task perimeters. Our model employs four distinct event configurations: 1. Intermediate Message Catch: sits inline in the Core Banking lane, waiting for the external credit report. 2. Non-interrupting Timer Boundary Events: with dashed double borders, these fire parallel escalations—like a 24-hour credit retry or a 48-hour e-signature reminder—without aborting the underlying user task. 3. Interrupting Timer Boundary Event: with solid double borders on the 7-day offer review, which terminates the task and transitions directly to Offer Expired. 4. Interrupting Error Boundary Event: attached to the automated disbursement service task to catch banking transfer exceptions and route them to Operations.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7, we trace the complete Happy Path of our system. The happy path represents the uninterrupted ideal flow: an eligible customer submits documents, passes automated KYC, AML, credit score, and DTI ratio checks concurrently, qualifies for auto-approval, accepts the generated offer, e-signs the agreement, and receives disbursement into their account. I want to draw your attention to an important academic distinction highlighted on the right: We explicitly distinguish the 'Happy Path' from the 'Critical Path'. In project management, the Critical Path Method relies on mathematical durations and zero float time. Because this assignment focuses on business process choreography rather than statistical queue simulations, we do not invent artificial task durations. Instead, we define the Happy Path as the business-critical sequence required to achieve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presents the first half of our Failure Path Register, covering failures L1 through L6. A key requirement of this project was to avoid simplifying the workflow into only the happy path. We followed the structured pattern requested: Failure Trigger → Detection Element → Recovery Action → Resulting Outcome. Notice how our model handles each failure gracefully: For L1, missing documents do not instantly kill the application; instead, a correction loop allows the student or customer to resubmit, governed by a lapse timer. For L2, automated KYC failures trigger a human compliance fallback rather than an immediate false-positive rejection. For L3, AML watchlist matches trigger an unrecoverable Terminate End Event. For L4, credit bureau outages are handled via non-interrupting timer retries, preventing system deadlocks.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demonstrates how our model handles alternate and exception paths in the later stages of the lifecycle, specifically L7 through L12. A standout architectural feature on the left is our Underwriting and Collateral loop: borderline applications are not discarded. They are routed to an expert underwriter who can request collateral. If collateral appraisal reveals insufficient Loan-to-Value, the re-underwriting task loops back to adjust the loan terms dynamically. On the right, we showcase post-approval robustness: if a borrower ignores an offer, a 7-day interrupting timer expires the contract. If they request a counter-offer, an alternate negotiation loop is activated. Finally, for L12, should the core banking disbursement fail due to a network glitch or frozen account, an Error Boundary Event catches the technical fault, completely preventing untracked financial transactions and enabling operational recovery.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highlights how our model maintains enterprise-grade robustness and governance. In production workflows, failure handling must satisfy four critical architectural pillars: First, Loop Control: infinite loops are a fatal modelling flaw. In our model, every document correction and API retry loop has an explicit limit, after which the application either lapses or escalates. Second, SLA Timers: both interrupting and non-interrupting timers prevent silent application stagnation. Third, Human-in-the-Loop Fallbacks: when automated microservices fail—such as an identity API outage—the workflow gracefully routes to a human officer. Fourth, a vital theoretical point often tested in vivas: the difference between Error Recovery and Compensation. Recovery is forward-looking error resolution, such as retrying a failed transfer. Compensation is backward-looking rollback of already-committed business transactions. Our model properly uses forward error recovery.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addresses Design Decisions, Validation, and Academic Honesty regarding limitations. A major technical achievement of this project is strict BPMN 2.0 semantic compliance: sequence flows never cross pool boundaries. The external Credit Bureau is connected solely via message flows. We tested and validated the model XML in Camunda Modeler 5.49, confirming that all shapes, DI coordinates, and boundary events parse without error. Equally important in an academic presentation is discussing limitations and future improvements. We candidly identify three enhancements: First, migrating the hard-coded scoring logic in Service Tasks to DMN decision tables using Business Rule Tasks. Second, adding an Event Sub-Process to allow applicant withdrawal at any active point in the lifecycle. And third, adopting Transactional Sub-Processes with automated compensation handlers for multi-step fund reservation.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our BPMN 2.0 model provides an enterprise-grade blueprint for retail loan origination that balances customer experience, operational efficiency, and regulatory compliance. By moving beyond standard happy-path diagrams to incorporate deterministic parallel concurrency, asynchronous external collaboration, and 12 resilient failure handling mechanisms, the model proves the real power of BPMN 2.0 as an executable engineering standard. Thank you, Professor and classmates, for your time and attention. I am now ready to answer any questions regarding our modeling choices, gateway semantics, or exception architectures.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31520"/>
            <a:ext cx="1097280" cy="73152"/>
          </a:xfrm>
          <a:prstGeom prst="rect">
            <a:avLst/>
          </a:prstGeom>
          <a:solidFill>
            <a:srgbClr val="00D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10698480" cy="2011680"/>
          </a:xfrm>
          <a:prstGeom prst="rect">
            <a:avLst/>
          </a:prstGeom>
          <a:noFill/>
        </p:spPr>
        <p:txBody>
          <a:bodyPr wrap="square">
            <a:spAutoFit/>
          </a:bodyPr>
          <a:lstStyle/>
          <a:p>
            <a:pPr>
              <a:spcAft>
                <a:spcPts val="1000"/>
              </a:spcAft>
              <a:defRPr sz="3600" b="1">
                <a:solidFill>
                  <a:srgbClr val="F8FAFC"/>
                </a:solidFill>
                <a:latin typeface="Arial"/>
              </a:defRPr>
            </a:pPr>
            <a:r>
              <a:t>Loan Origination &amp; Approval System</a:t>
            </a:r>
          </a:p>
          <a:p>
            <a:pPr>
              <a:defRPr sz="1800">
                <a:solidFill>
                  <a:srgbClr val="00D2EB"/>
                </a:solidFill>
                <a:latin typeface="Arial"/>
              </a:defRPr>
            </a:pPr>
            <a:r>
              <a:t>Enterprise BPMN 2.0 Process Modelling, Concurrency &amp; Exception Architecture</a:t>
            </a:r>
          </a:p>
        </p:txBody>
      </p:sp>
      <p:sp>
        <p:nvSpPr>
          <p:cNvPr id="5" name="Rounded Rectangle 4"/>
          <p:cNvSpPr/>
          <p:nvPr/>
        </p:nvSpPr>
        <p:spPr>
          <a:xfrm>
            <a:off x="731520" y="3383280"/>
            <a:ext cx="5120640" cy="256032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400"/>
              </a:spcAft>
              <a:defRPr sz="1100" b="1">
                <a:solidFill>
                  <a:srgbClr val="00D2EB"/>
                </a:solidFill>
                <a:latin typeface="Arial"/>
              </a:defRPr>
            </a:pPr>
            <a:r>
              <a:t>CANDIDATE INFORMATION</a:t>
            </a:r>
          </a:p>
          <a:p>
            <a:pPr>
              <a:spcAft>
                <a:spcPts val="800"/>
              </a:spcAft>
            </a:pPr>
            <a:r>
              <a:rPr b="1" sz="1200">
                <a:solidFill>
                  <a:srgbClr val="94A3B8"/>
                </a:solidFill>
              </a:rPr>
              <a:t>Student Name:  </a:t>
            </a:r>
            <a:r>
              <a:rPr b="1" sz="1300">
                <a:solidFill>
                  <a:srgbClr val="F8FAFC"/>
                </a:solidFill>
              </a:rPr>
              <a:t>Mayank Singh</a:t>
            </a:r>
          </a:p>
          <a:p>
            <a:pPr>
              <a:spcAft>
                <a:spcPts val="800"/>
              </a:spcAft>
            </a:pPr>
            <a:r>
              <a:rPr b="1" sz="1200">
                <a:solidFill>
                  <a:srgbClr val="94A3B8"/>
                </a:solidFill>
              </a:rPr>
              <a:t>Registration Number:  </a:t>
            </a:r>
            <a:r>
              <a:rPr b="1" sz="1300">
                <a:solidFill>
                  <a:srgbClr val="F8FAFC"/>
                </a:solidFill>
              </a:rPr>
              <a:t>RA2411003010116</a:t>
            </a:r>
          </a:p>
          <a:p>
            <a:pPr>
              <a:spcAft>
                <a:spcPts val="800"/>
              </a:spcAft>
            </a:pPr>
            <a:r>
              <a:rPr b="1" sz="1200">
                <a:solidFill>
                  <a:srgbClr val="94A3B8"/>
                </a:solidFill>
              </a:rPr>
              <a:t>Course / Subject:  </a:t>
            </a:r>
            <a:r>
              <a:rPr b="1" sz="1300">
                <a:solidFill>
                  <a:srgbClr val="F8FAFC"/>
                </a:solidFill>
              </a:rPr>
              <a:t>Workflow Automation</a:t>
            </a:r>
          </a:p>
          <a:p>
            <a:pPr>
              <a:spcAft>
                <a:spcPts val="800"/>
              </a:spcAft>
            </a:pPr>
            <a:r>
              <a:rPr b="1" sz="1200">
                <a:solidFill>
                  <a:srgbClr val="94A3B8"/>
                </a:solidFill>
              </a:rPr>
              <a:t>Academic Institution:  </a:t>
            </a:r>
            <a:r>
              <a:rPr b="1" sz="1300">
                <a:solidFill>
                  <a:srgbClr val="F8FAFC"/>
                </a:solidFill>
              </a:rPr>
              <a:t>SRMIST</a:t>
            </a:r>
          </a:p>
        </p:txBody>
      </p:sp>
      <p:sp>
        <p:nvSpPr>
          <p:cNvPr id="6" name="Rounded Rectangle 5"/>
          <p:cNvSpPr/>
          <p:nvPr/>
        </p:nvSpPr>
        <p:spPr>
          <a:xfrm>
            <a:off x="6217920" y="3383280"/>
            <a:ext cx="5212080" cy="256032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400"/>
              </a:spcAft>
              <a:defRPr sz="1100" b="1">
                <a:solidFill>
                  <a:srgbClr val="60A5FA"/>
                </a:solidFill>
                <a:latin typeface="Arial"/>
              </a:defRPr>
            </a:pPr>
            <a:r>
              <a:t>MODELLING SPECIFICATION &amp; SCOPE</a:t>
            </a:r>
          </a:p>
          <a:p>
            <a:pPr>
              <a:spcAft>
                <a:spcPts val="800"/>
              </a:spcAft>
            </a:pPr>
            <a:r>
              <a:rPr b="1" sz="1200">
                <a:solidFill>
                  <a:srgbClr val="94A3B8"/>
                </a:solidFill>
              </a:rPr>
              <a:t>Specification Standard:  </a:t>
            </a:r>
            <a:r>
              <a:rPr sz="1200">
                <a:solidFill>
                  <a:srgbClr val="F8FAFC"/>
                </a:solidFill>
              </a:rPr>
              <a:t>OMG BPMN 2.0 (XML &amp; Graphical Notation)</a:t>
            </a:r>
          </a:p>
          <a:p>
            <a:pPr>
              <a:spcAft>
                <a:spcPts val="800"/>
              </a:spcAft>
            </a:pPr>
            <a:r>
              <a:rPr b="1" sz="1200">
                <a:solidFill>
                  <a:srgbClr val="94A3B8"/>
                </a:solidFill>
              </a:rPr>
              <a:t>Architectural Scope:  </a:t>
            </a:r>
            <a:r>
              <a:rPr sz="1200">
                <a:solidFill>
                  <a:srgbClr val="F8FAFC"/>
                </a:solidFill>
              </a:rPr>
              <a:t>7 Lanes (6 Internal + 1 External Pool)</a:t>
            </a:r>
          </a:p>
          <a:p>
            <a:pPr>
              <a:spcAft>
                <a:spcPts val="800"/>
              </a:spcAft>
            </a:pPr>
            <a:r>
              <a:rPr b="1" sz="1200">
                <a:solidFill>
                  <a:srgbClr val="94A3B8"/>
                </a:solidFill>
              </a:rPr>
              <a:t>Execution Integrity:  </a:t>
            </a:r>
            <a:r>
              <a:rPr sz="1200">
                <a:solidFill>
                  <a:srgbClr val="F8FAFC"/>
                </a:solidFill>
              </a:rPr>
              <a:t>Parallel Gateway Concurrency &amp; Error Boundaries</a:t>
            </a:r>
          </a:p>
          <a:p>
            <a:pPr>
              <a:spcAft>
                <a:spcPts val="800"/>
              </a:spcAft>
            </a:pPr>
            <a:r>
              <a:rPr b="1" sz="1200">
                <a:solidFill>
                  <a:srgbClr val="94A3B8"/>
                </a:solidFill>
              </a:rPr>
              <a:t>Validation Status:  </a:t>
            </a:r>
            <a:r>
              <a:rPr sz="1200">
                <a:solidFill>
                  <a:srgbClr val="F8FAFC"/>
                </a:solidFill>
              </a:rPr>
              <a:t>Validated on Camunda Modeler 5.49 &amp; bpmn-js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PROJECT CONTEXT</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Problem Statement &amp; Process Objectives</a:t>
            </a:r>
          </a:p>
        </p:txBody>
      </p:sp>
      <p:sp>
        <p:nvSpPr>
          <p:cNvPr id="5" name="Rounded Rectangle 4"/>
          <p:cNvSpPr/>
          <p:nvPr/>
        </p:nvSpPr>
        <p:spPr>
          <a:xfrm>
            <a:off x="731520" y="1463040"/>
            <a:ext cx="5212080" cy="484632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200" b="1">
                <a:solidFill>
                  <a:srgbClr val="F87171"/>
                </a:solidFill>
              </a:defRPr>
            </a:pPr>
            <a:r>
              <a:t>THE REAL-WORLD BANKING CHALLENGE</a:t>
            </a:r>
          </a:p>
          <a:p>
            <a:pPr>
              <a:spcAft>
                <a:spcPts val="1000"/>
              </a:spcAft>
            </a:pPr>
            <a:r>
              <a:rPr b="1" sz="1100">
                <a:solidFill>
                  <a:srgbClr val="F8FAFC"/>
                </a:solidFill>
              </a:rPr>
              <a:t>• High Drop-off &amp; Documentation Latency: </a:t>
            </a:r>
            <a:r>
              <a:rPr sz="1100">
                <a:solidFill>
                  <a:srgbClr val="94A3B8"/>
                </a:solidFill>
              </a:rPr>
              <a:t>Retail loan applicants face long cycle times due to repeated missing document exchanges and lack of automated validation schemas.</a:t>
            </a:r>
          </a:p>
          <a:p>
            <a:pPr>
              <a:spcAft>
                <a:spcPts val="1000"/>
              </a:spcAft>
            </a:pPr>
            <a:r>
              <a:rPr b="1" sz="1100">
                <a:solidFill>
                  <a:srgbClr val="F8FAFC"/>
                </a:solidFill>
              </a:rPr>
              <a:t>• Multi-Departmental Silos: </a:t>
            </a:r>
            <a:r>
              <a:rPr sz="1100">
                <a:solidFill>
                  <a:srgbClr val="94A3B8"/>
                </a:solidFill>
              </a:rPr>
              <a:t>Underwriters, compliance teams, loan officers, and core banking operations frequently communicate through unstructured channels, causing compliance blindspots.</a:t>
            </a:r>
          </a:p>
          <a:p>
            <a:pPr>
              <a:spcAft>
                <a:spcPts val="1000"/>
              </a:spcAft>
            </a:pPr>
            <a:r>
              <a:rPr b="1" sz="1100">
                <a:solidFill>
                  <a:srgbClr val="F8FAFC"/>
                </a:solidFill>
              </a:rPr>
              <a:t>• Strict Regulatory Mandates: </a:t>
            </a:r>
            <a:r>
              <a:rPr sz="1100">
                <a:solidFill>
                  <a:srgbClr val="94A3B8"/>
                </a:solidFill>
              </a:rPr>
              <a:t>Zero-tolerance requirements for KYC identity matching and AML watchlist screening necessitate deterministic, auditable gatekeeping before loan commitment.</a:t>
            </a:r>
          </a:p>
          <a:p>
            <a:pPr>
              <a:spcAft>
                <a:spcPts val="1000"/>
              </a:spcAft>
            </a:pPr>
            <a:r>
              <a:rPr b="1" sz="1100">
                <a:solidFill>
                  <a:srgbClr val="F8FAFC"/>
                </a:solidFill>
              </a:rPr>
              <a:t>• External Dependency Fragility: </a:t>
            </a:r>
            <a:r>
              <a:rPr sz="1100">
                <a:solidFill>
                  <a:srgbClr val="94A3B8"/>
                </a:solidFill>
              </a:rPr>
              <a:t>Credit bureau APIs frequently experience network timeouts, requiring structured non-blocking retry mechanisms rather than stalling the application.</a:t>
            </a:r>
          </a:p>
        </p:txBody>
      </p:sp>
      <p:sp>
        <p:nvSpPr>
          <p:cNvPr id="6" name="Rounded Rectangle 5"/>
          <p:cNvSpPr/>
          <p:nvPr/>
        </p:nvSpPr>
        <p:spPr>
          <a:xfrm>
            <a:off x="6217920" y="1463040"/>
            <a:ext cx="5212080" cy="237744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200" b="1">
                <a:solidFill>
                  <a:srgbClr val="34D399"/>
                </a:solidFill>
              </a:defRPr>
            </a:pPr>
            <a:r>
              <a:t>PROCESS DESIGN OBJECTIVES</a:t>
            </a:r>
          </a:p>
          <a:p>
            <a:pPr>
              <a:spcAft>
                <a:spcPts val="600"/>
              </a:spcAft>
              <a:defRPr sz="1100">
                <a:solidFill>
                  <a:srgbClr val="F8FAFC"/>
                </a:solidFill>
              </a:defRPr>
            </a:pPr>
            <a:r>
              <a:t>1. Model End-to-End Orchestration: From applicant document submission to NEFT/RTGS disbursement.</a:t>
            </a:r>
          </a:p>
          <a:p>
            <a:pPr>
              <a:spcAft>
                <a:spcPts val="600"/>
              </a:spcAft>
              <a:defRPr sz="1100">
                <a:solidFill>
                  <a:srgbClr val="F8FAFC"/>
                </a:solidFill>
              </a:defRPr>
            </a:pPr>
            <a:r>
              <a:t>2. Parallelize Background Checks: Execute KYC/AML, Credit Bureau scoring, and DTI ratio checks simultaneously.</a:t>
            </a:r>
          </a:p>
          <a:p>
            <a:pPr>
              <a:spcAft>
                <a:spcPts val="600"/>
              </a:spcAft>
              <a:defRPr sz="1100">
                <a:solidFill>
                  <a:srgbClr val="F8FAFC"/>
                </a:solidFill>
              </a:defRPr>
            </a:pPr>
            <a:r>
              <a:t>3. Resilient Failure Containment: Provide explicit recovery or terminal paths for all 12 potential failure triggers.</a:t>
            </a:r>
          </a:p>
          <a:p>
            <a:pPr>
              <a:spcAft>
                <a:spcPts val="600"/>
              </a:spcAft>
              <a:defRPr sz="1100">
                <a:solidFill>
                  <a:srgbClr val="F8FAFC"/>
                </a:solidFill>
              </a:defRPr>
            </a:pPr>
            <a:r>
              <a:t>4. Enforce SLA Compliance: Introduce timer-based offer expirations and non-blocking e-signature follow-ups.</a:t>
            </a:r>
          </a:p>
        </p:txBody>
      </p:sp>
      <p:sp>
        <p:nvSpPr>
          <p:cNvPr id="7" name="Rounded Rectangle 6"/>
          <p:cNvSpPr/>
          <p:nvPr/>
        </p:nvSpPr>
        <p:spPr>
          <a:xfrm>
            <a:off x="6217920" y="3977639"/>
            <a:ext cx="5212080" cy="233172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200" b="1">
                <a:solidFill>
                  <a:srgbClr val="00D2EB"/>
                </a:solidFill>
              </a:defRPr>
            </a:pPr>
            <a:r>
              <a:t>WHY BPMN 2.0 IS THE SUPERIOR MODELLING STANDARD</a:t>
            </a:r>
          </a:p>
          <a:p>
            <a:pPr>
              <a:spcAft>
                <a:spcPts val="600"/>
              </a:spcAft>
            </a:pPr>
            <a:r>
              <a:rPr b="1" sz="1050">
                <a:solidFill>
                  <a:srgbClr val="F8FAFC"/>
                </a:solidFill>
              </a:rPr>
              <a:t>✔ Standardized Semantics: </a:t>
            </a:r>
            <a:r>
              <a:rPr sz="1050">
                <a:solidFill>
                  <a:srgbClr val="94A3B8"/>
                </a:solidFill>
              </a:rPr>
              <a:t>Unlike basic flowcharts, BPMN 2.0 distinguishes User, Service, and Send tasks with unambiguous execution semantics.</a:t>
            </a:r>
          </a:p>
          <a:p>
            <a:pPr>
              <a:spcAft>
                <a:spcPts val="600"/>
              </a:spcAft>
            </a:pPr>
            <a:r>
              <a:rPr b="1" sz="1050">
                <a:solidFill>
                  <a:srgbClr val="F8FAFC"/>
                </a:solidFill>
              </a:rPr>
              <a:t>✔ Pools vs Lanes Rigor: </a:t>
            </a:r>
            <a:r>
              <a:rPr sz="1050">
                <a:solidFill>
                  <a:srgbClr val="94A3B8"/>
                </a:solidFill>
              </a:rPr>
              <a:t>Enforces strict organizational boundary isolation (Sequence Flows strictly within a Pool; Message Flows between Pools).</a:t>
            </a:r>
          </a:p>
          <a:p>
            <a:pPr>
              <a:spcAft>
                <a:spcPts val="600"/>
              </a:spcAft>
            </a:pPr>
            <a:r>
              <a:rPr b="1" sz="1050">
                <a:solidFill>
                  <a:srgbClr val="F8FAFC"/>
                </a:solidFill>
              </a:rPr>
              <a:t>✔ Event-Driven Architecture: </a:t>
            </a:r>
            <a:r>
              <a:rPr sz="1050">
                <a:solidFill>
                  <a:srgbClr val="94A3B8"/>
                </a:solidFill>
              </a:rPr>
              <a:t>Supports interrupting and non-interrupting boundary events essential for enterprise timeout and technical fault trapping.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SYSTEM ARCHITECTURE</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Overall BPMN 2.0 Architecture &amp; Process Topology</a:t>
            </a:r>
          </a:p>
        </p:txBody>
      </p:sp>
      <p:sp>
        <p:nvSpPr>
          <p:cNvPr id="5" name="Rounded Rectangle 4"/>
          <p:cNvSpPr/>
          <p:nvPr/>
        </p:nvSpPr>
        <p:spPr>
          <a:xfrm>
            <a:off x="731520" y="1371600"/>
            <a:ext cx="713232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ssignment3_BPMN_Diagram.png"/>
          <p:cNvPicPr>
            <a:picLocks noChangeAspect="1"/>
          </p:cNvPicPr>
          <p:nvPr/>
        </p:nvPicPr>
        <p:blipFill>
          <a:blip r:embed="rId2"/>
          <a:stretch>
            <a:fillRect/>
          </a:stretch>
        </p:blipFill>
        <p:spPr>
          <a:xfrm>
            <a:off x="822960" y="1463040"/>
            <a:ext cx="6949440" cy="4754880"/>
          </a:xfrm>
          <a:prstGeom prst="rect">
            <a:avLst/>
          </a:prstGeom>
        </p:spPr>
      </p:pic>
      <p:sp>
        <p:nvSpPr>
          <p:cNvPr id="7" name="Rounded Rectangle 6"/>
          <p:cNvSpPr/>
          <p:nvPr/>
        </p:nvSpPr>
        <p:spPr>
          <a:xfrm>
            <a:off x="8046720" y="1371600"/>
            <a:ext cx="3383280" cy="237744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00D2EB"/>
                </a:solidFill>
              </a:defRPr>
            </a:pPr>
            <a:r>
              <a:t>PARTICIPANTS &amp; SWIMLANES (7 TOTAL)</a:t>
            </a:r>
          </a:p>
          <a:p>
            <a:pPr>
              <a:spcAft>
                <a:spcPts val="300"/>
              </a:spcAft>
            </a:pPr>
            <a:r>
              <a:rPr b="1" sz="950">
                <a:solidFill>
                  <a:srgbClr val="F8FAFC"/>
                </a:solidFill>
              </a:rPr>
              <a:t>• Applicant: </a:t>
            </a:r>
            <a:r>
              <a:rPr sz="900">
                <a:solidFill>
                  <a:srgbClr val="94A3B8"/>
                </a:solidFill>
              </a:rPr>
              <a:t>Submits docs, reviews offer, e-signs agreement</a:t>
            </a:r>
          </a:p>
          <a:p>
            <a:pPr>
              <a:spcAft>
                <a:spcPts val="300"/>
              </a:spcAft>
            </a:pPr>
            <a:r>
              <a:rPr b="1" sz="950">
                <a:solidFill>
                  <a:srgbClr val="F8FAFC"/>
                </a:solidFill>
              </a:rPr>
              <a:t>• Loan Officer: </a:t>
            </a:r>
            <a:r>
              <a:rPr sz="900">
                <a:solidFill>
                  <a:srgbClr val="94A3B8"/>
                </a:solidFill>
              </a:rPr>
              <a:t>Screens docs, verifies income, issues offers</a:t>
            </a:r>
          </a:p>
          <a:p>
            <a:pPr>
              <a:spcAft>
                <a:spcPts val="300"/>
              </a:spcAft>
            </a:pPr>
            <a:r>
              <a:rPr b="1" sz="950">
                <a:solidFill>
                  <a:srgbClr val="F8FAFC"/>
                </a:solidFill>
              </a:rPr>
              <a:t>• Underwriter: </a:t>
            </a:r>
            <a:r>
              <a:rPr sz="900">
                <a:solidFill>
                  <a:srgbClr val="94A3B8"/>
                </a:solidFill>
              </a:rPr>
              <a:t>Adjudicates borderline risks &amp; collateral LTV</a:t>
            </a:r>
          </a:p>
          <a:p>
            <a:pPr>
              <a:spcAft>
                <a:spcPts val="300"/>
              </a:spcAft>
            </a:pPr>
            <a:r>
              <a:rPr b="1" sz="950">
                <a:solidFill>
                  <a:srgbClr val="F8FAFC"/>
                </a:solidFill>
              </a:rPr>
              <a:t>• Compliance Team: </a:t>
            </a:r>
            <a:r>
              <a:rPr sz="900">
                <a:solidFill>
                  <a:srgbClr val="94A3B8"/>
                </a:solidFill>
              </a:rPr>
              <a:t>Manual KYC adjudication &amp; AML fraud probes</a:t>
            </a:r>
          </a:p>
          <a:p>
            <a:pPr>
              <a:spcAft>
                <a:spcPts val="300"/>
              </a:spcAft>
            </a:pPr>
            <a:r>
              <a:rPr b="1" sz="950">
                <a:solidFill>
                  <a:srgbClr val="F8FAFC"/>
                </a:solidFill>
              </a:rPr>
              <a:t>• Core Banking: </a:t>
            </a:r>
            <a:r>
              <a:rPr sz="900">
                <a:solidFill>
                  <a:srgbClr val="94A3B8"/>
                </a:solidFill>
              </a:rPr>
              <a:t>Parallel execution, scoring, DTI computation</a:t>
            </a:r>
          </a:p>
          <a:p>
            <a:pPr>
              <a:spcAft>
                <a:spcPts val="300"/>
              </a:spcAft>
            </a:pPr>
            <a:r>
              <a:rPr b="1" sz="950">
                <a:solidFill>
                  <a:srgbClr val="F8FAFC"/>
                </a:solidFill>
              </a:rPr>
              <a:t>• Operations: </a:t>
            </a:r>
            <a:r>
              <a:rPr sz="900">
                <a:solidFill>
                  <a:srgbClr val="94A3B8"/>
                </a:solidFill>
              </a:rPr>
              <a:t>Disbursement prep &amp; manual fallback channels</a:t>
            </a:r>
          </a:p>
          <a:p>
            <a:pPr>
              <a:spcAft>
                <a:spcPts val="300"/>
              </a:spcAft>
            </a:pPr>
            <a:r>
              <a:rPr b="1" sz="950">
                <a:solidFill>
                  <a:srgbClr val="F8FAFC"/>
                </a:solidFill>
              </a:rPr>
              <a:t>• Credit Bureau (Pool): </a:t>
            </a:r>
            <a:r>
              <a:rPr sz="900">
                <a:solidFill>
                  <a:srgbClr val="94A3B8"/>
                </a:solidFill>
              </a:rPr>
              <a:t>External partner exchanging message flows</a:t>
            </a:r>
          </a:p>
        </p:txBody>
      </p:sp>
      <p:sp>
        <p:nvSpPr>
          <p:cNvPr id="8" name="Rounded Rectangle 7"/>
          <p:cNvSpPr/>
          <p:nvPr/>
        </p:nvSpPr>
        <p:spPr>
          <a:xfrm>
            <a:off x="8046720" y="3886200"/>
            <a:ext cx="3383280" cy="24231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34D399"/>
                </a:solidFill>
              </a:defRPr>
            </a:pPr>
            <a:r>
              <a:t>PROCESS BOUNDARIES &amp; METRICS</a:t>
            </a:r>
          </a:p>
          <a:p>
            <a:pPr>
              <a:spcAft>
                <a:spcPts val="400"/>
              </a:spcAft>
            </a:pPr>
            <a:r>
              <a:rPr b="1" sz="950">
                <a:solidFill>
                  <a:srgbClr val="F8FAFC"/>
                </a:solidFill>
              </a:rPr>
              <a:t>✔ Start Event: </a:t>
            </a:r>
            <a:r>
              <a:rPr sz="900">
                <a:solidFill>
                  <a:srgbClr val="94A3B8"/>
                </a:solidFill>
              </a:rPr>
              <a:t>Applicant submits online application &amp; docs</a:t>
            </a:r>
          </a:p>
          <a:p>
            <a:pPr>
              <a:spcAft>
                <a:spcPts val="400"/>
              </a:spcAft>
            </a:pPr>
            <a:r>
              <a:rPr b="1" sz="950">
                <a:solidFill>
                  <a:srgbClr val="F8FAFC"/>
                </a:solidFill>
              </a:rPr>
              <a:t>✔ Happy End Event: </a:t>
            </a:r>
            <a:r>
              <a:rPr sz="900">
                <a:solidFill>
                  <a:srgbClr val="94A3B8"/>
                </a:solidFill>
              </a:rPr>
              <a:t>Loan Disbursed &amp; Account Created (Success)</a:t>
            </a:r>
          </a:p>
          <a:p>
            <a:pPr>
              <a:spcAft>
                <a:spcPts val="400"/>
              </a:spcAft>
            </a:pPr>
            <a:r>
              <a:rPr b="1" sz="950">
                <a:solidFill>
                  <a:srgbClr val="F8FAFC"/>
                </a:solidFill>
              </a:rPr>
              <a:t>✔ Failure End States (6): </a:t>
            </a:r>
            <a:r>
              <a:rPr sz="900">
                <a:solidFill>
                  <a:srgbClr val="94A3B8"/>
                </a:solidFill>
              </a:rPr>
              <a:t>Rejected, Withdrawn, Lapsed, Expired, Fraud Terminated, Disbursement Failed</a:t>
            </a:r>
          </a:p>
          <a:p>
            <a:pPr>
              <a:spcAft>
                <a:spcPts val="400"/>
              </a:spcAft>
            </a:pPr>
            <a:r>
              <a:rPr b="1" sz="950">
                <a:solidFill>
                  <a:srgbClr val="F8FAFC"/>
                </a:solidFill>
              </a:rPr>
              <a:t>✔ Construct Inventory: </a:t>
            </a:r>
            <a:r>
              <a:rPr sz="900">
                <a:solidFill>
                  <a:srgbClr val="94A3B8"/>
                </a:solidFill>
              </a:rPr>
              <a:t>28 Total Flow Nodes, 13 Gateways, 4 Boundary Events, 2 Message Flows</a:t>
            </a:r>
          </a:p>
          <a:p>
            <a:pPr>
              <a:spcAft>
                <a:spcPts val="400"/>
              </a:spcAft>
            </a:pPr>
            <a:r>
              <a:rPr b="1" sz="950">
                <a:solidFill>
                  <a:srgbClr val="F8FAFC"/>
                </a:solidFill>
              </a:rPr>
              <a:t>✔ Schema Conformance: </a:t>
            </a:r>
            <a:r>
              <a:rPr sz="900">
                <a:solidFill>
                  <a:srgbClr val="94A3B8"/>
                </a:solidFill>
              </a:rPr>
              <a:t>100% Valid BPMN 2.0 XML (Camunda tested)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BPMN CONSTRUCTS</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Task Types Used &amp; Technical Justification</a:t>
            </a:r>
          </a:p>
        </p:txBody>
      </p:sp>
      <p:sp>
        <p:nvSpPr>
          <p:cNvPr id="5" name="Rounded Rectangle 4"/>
          <p:cNvSpPr/>
          <p:nvPr/>
        </p:nvSpPr>
        <p:spPr>
          <a:xfrm>
            <a:off x="731520" y="1371600"/>
            <a:ext cx="2542032"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00D2EB"/>
                </a:solidFill>
              </a:defRPr>
            </a:pPr>
            <a:r>
              <a:t>👤  USER TASK</a:t>
            </a:r>
          </a:p>
          <a:p>
            <a:pPr>
              <a:defRPr sz="950" b="1">
                <a:solidFill>
                  <a:srgbClr val="94A3B8"/>
                </a:solidFill>
              </a:defRPr>
            </a:pPr>
            <a:r>
              <a:t>DEFINITION:</a:t>
            </a:r>
          </a:p>
          <a:p>
            <a:pPr>
              <a:spcAft>
                <a:spcPts val="1000"/>
              </a:spcAft>
              <a:defRPr sz="1000">
                <a:solidFill>
                  <a:srgbClr val="F8FAFC"/>
                </a:solidFill>
              </a:defRPr>
            </a:pPr>
            <a:r>
              <a:t>Human interaction supported by a graphical user interface</a:t>
            </a:r>
          </a:p>
          <a:p>
            <a:pPr>
              <a:defRPr sz="950" b="1">
                <a:solidFill>
                  <a:srgbClr val="00D2EB"/>
                </a:solidFill>
              </a:defRPr>
            </a:pPr>
            <a:r>
              <a:t>PROJECT EXAMPLES:</a:t>
            </a:r>
          </a:p>
          <a:p>
            <a:pPr>
              <a:spcAft>
                <a:spcPts val="1000"/>
              </a:spcAft>
              <a:defRPr sz="950">
                <a:solidFill>
                  <a:srgbClr val="94A3B8"/>
                </a:solidFill>
              </a:defRPr>
            </a:pPr>
            <a:r>
              <a:t>• Submit Loan Application (Applicant)</a:t>
            </a:r>
            <a:br/>
            <a:r>
              <a:t>• Underwriter Full Manual Review (Underwriter)</a:t>
            </a:r>
            <a:br/>
            <a:r>
              <a:t>• E-Sign Loan Agreement (Applicant)</a:t>
            </a:r>
            <a:br/>
            <a:r>
              <a:t>• Verify Income &amp; Employment (Loan Officer)</a:t>
            </a:r>
          </a:p>
          <a:p>
            <a:pPr>
              <a:defRPr sz="950" b="1">
                <a:solidFill>
                  <a:srgbClr val="94A3B8"/>
                </a:solidFill>
              </a:defRPr>
            </a:pPr>
            <a:r>
              <a:t>WHY THIS TYPE?:</a:t>
            </a:r>
          </a:p>
          <a:p>
            <a:pPr>
              <a:defRPr sz="950">
                <a:solidFill>
                  <a:srgbClr val="F8FAFC"/>
                </a:solidFill>
              </a:defRPr>
            </a:pPr>
            <a:r>
              <a:t>Requires human cognition, subjective judgement, or digital signature input. Cannot be fully automated by a script or API.</a:t>
            </a:r>
          </a:p>
        </p:txBody>
      </p:sp>
      <p:sp>
        <p:nvSpPr>
          <p:cNvPr id="6" name="Rounded Rectangle 5"/>
          <p:cNvSpPr/>
          <p:nvPr/>
        </p:nvSpPr>
        <p:spPr>
          <a:xfrm>
            <a:off x="3456432" y="1371600"/>
            <a:ext cx="2542032"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34D399"/>
                </a:solidFill>
              </a:defRPr>
            </a:pPr>
            <a:r>
              <a:t>⚙️  SERVICE TASK</a:t>
            </a:r>
          </a:p>
          <a:p>
            <a:pPr>
              <a:defRPr sz="950" b="1">
                <a:solidFill>
                  <a:srgbClr val="94A3B8"/>
                </a:solidFill>
              </a:defRPr>
            </a:pPr>
            <a:r>
              <a:t>DEFINITION:</a:t>
            </a:r>
          </a:p>
          <a:p>
            <a:pPr>
              <a:spcAft>
                <a:spcPts val="1000"/>
              </a:spcAft>
              <a:defRPr sz="1000">
                <a:solidFill>
                  <a:srgbClr val="F8FAFC"/>
                </a:solidFill>
              </a:defRPr>
            </a:pPr>
            <a:r>
              <a:t>Automated software execution without human intervention</a:t>
            </a:r>
          </a:p>
          <a:p>
            <a:pPr>
              <a:defRPr sz="950" b="1">
                <a:solidFill>
                  <a:srgbClr val="34D399"/>
                </a:solidFill>
              </a:defRPr>
            </a:pPr>
            <a:r>
              <a:t>PROJECT EXAMPLES:</a:t>
            </a:r>
          </a:p>
          <a:p>
            <a:pPr>
              <a:spcAft>
                <a:spcPts val="1000"/>
              </a:spcAft>
              <a:defRPr sz="950">
                <a:solidFill>
                  <a:srgbClr val="94A3B8"/>
                </a:solidFill>
              </a:defRPr>
            </a:pPr>
            <a:r>
              <a:t>• Check Document Completeness</a:t>
            </a:r>
            <a:br/>
            <a:r>
              <a:t>• KYC Identity Verification API</a:t>
            </a:r>
            <a:br/>
            <a:r>
              <a:t>• AML Watchlist Screening</a:t>
            </a:r>
            <a:br/>
            <a:r>
              <a:t>• Calculate Eligibility &amp; Risk Score</a:t>
            </a:r>
            <a:br/>
            <a:r>
              <a:t>• Disburse Loan Funds (Core Banking)</a:t>
            </a:r>
          </a:p>
          <a:p>
            <a:pPr>
              <a:defRPr sz="950" b="1">
                <a:solidFill>
                  <a:srgbClr val="94A3B8"/>
                </a:solidFill>
              </a:defRPr>
            </a:pPr>
            <a:r>
              <a:t>WHY THIS TYPE?:</a:t>
            </a:r>
          </a:p>
          <a:p>
            <a:pPr>
              <a:defRPr sz="950">
                <a:solidFill>
                  <a:srgbClr val="F8FAFC"/>
                </a:solidFill>
              </a:defRPr>
            </a:pPr>
            <a:r>
              <a:t>Executes deterministic computational logic, external REST/SOAP API calls, or database operations with immediate automated return.</a:t>
            </a:r>
          </a:p>
        </p:txBody>
      </p:sp>
      <p:sp>
        <p:nvSpPr>
          <p:cNvPr id="7" name="Rounded Rectangle 6"/>
          <p:cNvSpPr/>
          <p:nvPr/>
        </p:nvSpPr>
        <p:spPr>
          <a:xfrm>
            <a:off x="6181344" y="1371600"/>
            <a:ext cx="2542032"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60A5FA"/>
                </a:solidFill>
              </a:defRPr>
            </a:pPr>
            <a:r>
              <a:t>✉️  SEND TASK</a:t>
            </a:r>
          </a:p>
          <a:p>
            <a:pPr>
              <a:defRPr sz="950" b="1">
                <a:solidFill>
                  <a:srgbClr val="94A3B8"/>
                </a:solidFill>
              </a:defRPr>
            </a:pPr>
            <a:r>
              <a:t>DEFINITION:</a:t>
            </a:r>
          </a:p>
          <a:p>
            <a:pPr>
              <a:spcAft>
                <a:spcPts val="1000"/>
              </a:spcAft>
              <a:defRPr sz="1000">
                <a:solidFill>
                  <a:srgbClr val="F8FAFC"/>
                </a:solidFill>
              </a:defRPr>
            </a:pPr>
            <a:r>
              <a:t>Outbound message dispatch to an external pool or participant</a:t>
            </a:r>
          </a:p>
          <a:p>
            <a:pPr>
              <a:defRPr sz="950" b="1">
                <a:solidFill>
                  <a:srgbClr val="60A5FA"/>
                </a:solidFill>
              </a:defRPr>
            </a:pPr>
            <a:r>
              <a:t>PROJECT EXAMPLES:</a:t>
            </a:r>
          </a:p>
          <a:p>
            <a:pPr>
              <a:spcAft>
                <a:spcPts val="1000"/>
              </a:spcAft>
              <a:defRPr sz="950">
                <a:solidFill>
                  <a:srgbClr val="94A3B8"/>
                </a:solidFill>
              </a:defRPr>
            </a:pPr>
            <a:r>
              <a:t>• Request Credit Report (dispatched to Credit Bureau external pool)</a:t>
            </a:r>
            <a:br/>
            <a:r>
              <a:t>• Send Loan Offer to Applicant</a:t>
            </a:r>
            <a:br/>
            <a:r>
              <a:t>• Notify Applicant of Disbursement</a:t>
            </a:r>
          </a:p>
          <a:p>
            <a:pPr>
              <a:defRPr sz="950" b="1">
                <a:solidFill>
                  <a:srgbClr val="94A3B8"/>
                </a:solidFill>
              </a:defRPr>
            </a:pPr>
            <a:r>
              <a:t>WHY THIS TYPE?:</a:t>
            </a:r>
          </a:p>
          <a:p>
            <a:pPr>
              <a:defRPr sz="950">
                <a:solidFill>
                  <a:srgbClr val="F8FAFC"/>
                </a:solidFill>
              </a:defRPr>
            </a:pPr>
            <a:r>
              <a:t>Models active dispatch of asynchronous communications crossing participant boundaries. Decouples sender execution from recipient processing.</a:t>
            </a:r>
          </a:p>
        </p:txBody>
      </p:sp>
      <p:sp>
        <p:nvSpPr>
          <p:cNvPr id="8" name="Rounded Rectangle 7"/>
          <p:cNvSpPr/>
          <p:nvPr/>
        </p:nvSpPr>
        <p:spPr>
          <a:xfrm>
            <a:off x="8906256" y="1371600"/>
            <a:ext cx="2542032"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300" b="1">
                <a:solidFill>
                  <a:srgbClr val="C084FC"/>
                </a:solidFill>
              </a:defRPr>
            </a:pPr>
            <a:r>
              <a:t>📥  RECEIVE TASK / CATCH</a:t>
            </a:r>
          </a:p>
          <a:p>
            <a:pPr>
              <a:defRPr sz="950" b="1">
                <a:solidFill>
                  <a:srgbClr val="94A3B8"/>
                </a:solidFill>
              </a:defRPr>
            </a:pPr>
            <a:r>
              <a:t>DEFINITION:</a:t>
            </a:r>
          </a:p>
          <a:p>
            <a:pPr>
              <a:spcAft>
                <a:spcPts val="1000"/>
              </a:spcAft>
              <a:defRPr sz="1000">
                <a:solidFill>
                  <a:srgbClr val="F8FAFC"/>
                </a:solidFill>
              </a:defRPr>
            </a:pPr>
            <a:r>
              <a:t>Waiting state for incoming message from an external pool</a:t>
            </a:r>
          </a:p>
          <a:p>
            <a:pPr>
              <a:defRPr sz="950" b="1">
                <a:solidFill>
                  <a:srgbClr val="C084FC"/>
                </a:solidFill>
              </a:defRPr>
            </a:pPr>
            <a:r>
              <a:t>PROJECT EXAMPLES:</a:t>
            </a:r>
          </a:p>
          <a:p>
            <a:pPr>
              <a:spcAft>
                <a:spcPts val="1000"/>
              </a:spcAft>
              <a:defRPr sz="950">
                <a:solidFill>
                  <a:srgbClr val="94A3B8"/>
                </a:solidFill>
              </a:defRPr>
            </a:pPr>
            <a:r>
              <a:t>• Receive Credit Report (Core Banking lane catches response from Credit Bureau pool)</a:t>
            </a:r>
          </a:p>
          <a:p>
            <a:pPr>
              <a:defRPr sz="950" b="1">
                <a:solidFill>
                  <a:srgbClr val="94A3B8"/>
                </a:solidFill>
              </a:defRPr>
            </a:pPr>
            <a:r>
              <a:t>WHY THIS TYPE?:</a:t>
            </a:r>
          </a:p>
          <a:p>
            <a:pPr>
              <a:defRPr sz="950">
                <a:solidFill>
                  <a:srgbClr val="F8FAFC"/>
                </a:solidFill>
              </a:defRPr>
            </a:pPr>
            <a:r>
              <a:t>Halts sequence flow progression until a correlated message payload arrives from an independent external system. Non-polling asynchronous wait.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CONTROL FLOW</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Gateways Architecture &amp; Concurrency Control</a:t>
            </a:r>
          </a:p>
        </p:txBody>
      </p:sp>
      <p:sp>
        <p:nvSpPr>
          <p:cNvPr id="5" name="Rounded Rectangle 4"/>
          <p:cNvSpPr/>
          <p:nvPr/>
        </p:nvSpPr>
        <p:spPr>
          <a:xfrm>
            <a:off x="7315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200" b="1">
                <a:solidFill>
                  <a:srgbClr val="34D399"/>
                </a:solidFill>
              </a:defRPr>
            </a:pPr>
            <a:r>
              <a:t>✛  PARALLEL GATEWAY (AND) — CONCURRENCY</a:t>
            </a:r>
          </a:p>
          <a:p>
            <a:pPr>
              <a:spcAft>
                <a:spcPts val="1000"/>
              </a:spcAft>
              <a:defRPr sz="1000">
                <a:solidFill>
                  <a:srgbClr val="94A3B8"/>
                </a:solidFill>
              </a:defRPr>
            </a:pPr>
            <a:r>
              <a:t>BPMN Symbol: Diamond with plus sign (+) marker</a:t>
            </a:r>
          </a:p>
          <a:p>
            <a:pPr>
              <a:spcAft>
                <a:spcPts val="800"/>
              </a:spcAft>
            </a:pPr>
            <a:r>
              <a:rPr b="1" sz="1050">
                <a:solidFill>
                  <a:srgbClr val="F8FAFC"/>
                </a:solidFill>
              </a:rPr>
              <a:t>Purpose &amp; Semantics: </a:t>
            </a:r>
            <a:r>
              <a:rPr sz="1000">
                <a:solidFill>
                  <a:srgbClr val="94A3B8"/>
                </a:solidFill>
              </a:rPr>
              <a:t>Forks one incoming sequence flow into multiple concurrent execution paths without condition evaluation. The join waits for ALL incoming paths to complete before continuing.</a:t>
            </a:r>
          </a:p>
          <a:p>
            <a:pPr>
              <a:spcAft>
                <a:spcPts val="800"/>
              </a:spcAft>
            </a:pPr>
            <a:r>
              <a:rPr b="1" sz="1050">
                <a:solidFill>
                  <a:srgbClr val="F8FAFC"/>
                </a:solidFill>
              </a:rPr>
              <a:t>Exact Model Location: </a:t>
            </a:r>
            <a:r>
              <a:rPr sz="1000">
                <a:solidFill>
                  <a:srgbClr val="94A3B8"/>
                </a:solidFill>
              </a:rPr>
              <a:t>Fork: 'Start Parallel Verification Checks'
Join: 'All Parallel Checks Complete'</a:t>
            </a:r>
          </a:p>
          <a:p>
            <a:pPr>
              <a:spcAft>
                <a:spcPts val="800"/>
              </a:spcAft>
            </a:pPr>
            <a:r>
              <a:rPr b="1" sz="1050">
                <a:solidFill>
                  <a:srgbClr val="F8FAFC"/>
                </a:solidFill>
              </a:rPr>
              <a:t>The Three Concurrent Branches: </a:t>
            </a:r>
            <a:r>
              <a:rPr sz="1000">
                <a:solidFill>
                  <a:srgbClr val="94A3B8"/>
                </a:solidFill>
              </a:rPr>
              <a:t>1. Fraud &amp; Compliance Lane: Automated KYC &amp; AML screening.
2. Core Banking Lane: Outbound Credit Bureau request &amp; catch.
3. Core Banking Lane: Automated DTI ratio calculation.</a:t>
            </a:r>
          </a:p>
          <a:p>
            <a:pPr>
              <a:spcAft>
                <a:spcPts val="800"/>
              </a:spcAft>
            </a:pPr>
            <a:r>
              <a:rPr b="1" sz="1050">
                <a:solidFill>
                  <a:srgbClr val="F8FAFC"/>
                </a:solidFill>
              </a:rPr>
              <a:t>Why AND is Mandatory Here: </a:t>
            </a:r>
            <a:r>
              <a:rPr sz="1000">
                <a:solidFill>
                  <a:srgbClr val="94A3B8"/>
                </a:solidFill>
              </a:rPr>
              <a:t>If these checks ran sequentially, total onboarding time would be additive (SLA penalty). Running them in parallel drastically reduces latency. Synchronizing them at the join ensures the loan officer has complete data before manual underwriting begins.</a:t>
            </a:r>
          </a:p>
        </p:txBody>
      </p:sp>
      <p:sp>
        <p:nvSpPr>
          <p:cNvPr id="6" name="Rounded Rectangle 5"/>
          <p:cNvSpPr/>
          <p:nvPr/>
        </p:nvSpPr>
        <p:spPr>
          <a:xfrm>
            <a:off x="62179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200" b="1">
                <a:solidFill>
                  <a:srgbClr val="00D2EB"/>
                </a:solidFill>
              </a:defRPr>
            </a:pPr>
            <a:r>
              <a:t>✕  EXCLUSIVE GATEWAY (XOR) — DECISION ROUTING</a:t>
            </a:r>
          </a:p>
          <a:p>
            <a:pPr>
              <a:spcAft>
                <a:spcPts val="1000"/>
              </a:spcAft>
              <a:defRPr sz="1000">
                <a:solidFill>
                  <a:srgbClr val="94A3B8"/>
                </a:solidFill>
              </a:defRPr>
            </a:pPr>
            <a:r>
              <a:t>BPMN Symbol: Diamond with an 'X' marker (or empty diamond)</a:t>
            </a:r>
          </a:p>
          <a:p>
            <a:pPr>
              <a:spcAft>
                <a:spcPts val="800"/>
              </a:spcAft>
            </a:pPr>
            <a:r>
              <a:rPr b="1" sz="1050">
                <a:solidFill>
                  <a:srgbClr val="F8FAFC"/>
                </a:solidFill>
              </a:rPr>
              <a:t>Purpose &amp; Semantics: </a:t>
            </a:r>
            <a:r>
              <a:rPr sz="1000">
                <a:solidFill>
                  <a:srgbClr val="94A3B8"/>
                </a:solidFill>
              </a:rPr>
              <a:t>Evaluates condition expressions and selects EXACTLY ONE outgoing branch. In alternative joining, it passes the first token that arrives without synchronization.</a:t>
            </a:r>
          </a:p>
          <a:p>
            <a:pPr>
              <a:spcAft>
                <a:spcPts val="800"/>
              </a:spcAft>
            </a:pPr>
            <a:r>
              <a:rPr b="1" sz="1050">
                <a:solidFill>
                  <a:srgbClr val="F8FAFC"/>
                </a:solidFill>
              </a:rPr>
              <a:t>Key Decision Points in Model: </a:t>
            </a:r>
            <a:r>
              <a:rPr sz="1000">
                <a:solidFill>
                  <a:srgbClr val="94A3B8"/>
                </a:solidFill>
              </a:rPr>
              <a:t>• 'Documents Complete?': Incomplete → return loop; Complete → proceed.
• 'KYC Passed?': Pass → AML; Fail → Manual KYC; Unresolvable → Terminate.
• 'Eligibility Decision': Score ≥ 750 → Auto-Approve; 600-749 → Manual Review; &lt; 600 → Reject.
• 'Underwriter Decision': Approve / Collateral Required / Reject.
• 'Applicant Decision': Accept Offer / Counter-Offer / Withdraw.</a:t>
            </a:r>
          </a:p>
          <a:p>
            <a:pPr>
              <a:spcAft>
                <a:spcPts val="800"/>
              </a:spcAft>
            </a:pPr>
            <a:r>
              <a:rPr b="1" sz="1050">
                <a:solidFill>
                  <a:srgbClr val="F8FAFC"/>
                </a:solidFill>
              </a:rPr>
              <a:t>Why Inclusive Gateways (OR) Were Avoided: </a:t>
            </a:r>
            <a:r>
              <a:rPr sz="1000">
                <a:solidFill>
                  <a:srgbClr val="94A3B8"/>
                </a:solidFill>
              </a:rPr>
              <a:t>An Inclusive Gateway allows 1 to N branches to fire based on non-exclusive criteria. In our loan process, outcomes like 'Approve' and 'Reject' are mutually exclusive; an application cannot be simultaneously approved and rejected. Using XOR guarantees deterministic, bug-free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EVENT ARCHITECTURE</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Intermediate &amp; Boundary Events Deep-Dive</a:t>
            </a:r>
          </a:p>
        </p:txBody>
      </p:sp>
      <p:sp>
        <p:nvSpPr>
          <p:cNvPr id="5" name="Rounded Rectangle 4"/>
          <p:cNvSpPr/>
          <p:nvPr/>
        </p:nvSpPr>
        <p:spPr>
          <a:xfrm>
            <a:off x="731520" y="1371600"/>
            <a:ext cx="10698480" cy="8229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D2EB"/>
                </a:solidFill>
              </a:defRPr>
            </a:pPr>
            <a:r>
              <a:t>CRITICAL BPMN DISTINCTION: INLINE INTERMEDIATE EVENTS VS. BOUNDARY EVENTS</a:t>
            </a:r>
          </a:p>
          <a:p>
            <a:pPr>
              <a:defRPr sz="950">
                <a:solidFill>
                  <a:srgbClr val="F8FAFC"/>
                </a:solidFill>
              </a:defRPr>
            </a:pPr>
            <a:r>
              <a:t>• Inline Intermediate Events sit directly on sequence flows and pause normal flow progression until triggered.</a:t>
            </a:r>
            <a:br/>
            <a:r>
              <a:t>• Boundary Events attach to task perimeters; they monitor active task execution and handle external exceptions, deadlines, or faults.</a:t>
            </a:r>
          </a:p>
        </p:txBody>
      </p:sp>
      <p:sp>
        <p:nvSpPr>
          <p:cNvPr id="6" name="Rounded Rectangle 5"/>
          <p:cNvSpPr/>
          <p:nvPr/>
        </p:nvSpPr>
        <p:spPr>
          <a:xfrm>
            <a:off x="731520" y="2331720"/>
            <a:ext cx="2542032" cy="3977639"/>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100" b="1">
                <a:solidFill>
                  <a:srgbClr val="00D2EB"/>
                </a:solidFill>
              </a:defRPr>
            </a:pPr>
            <a:r>
              <a:t>INTERMEDIATE MESSAGE CATCH</a:t>
            </a:r>
          </a:p>
          <a:p>
            <a:pPr>
              <a:defRPr sz="950" b="1">
                <a:solidFill>
                  <a:srgbClr val="94A3B8"/>
                </a:solidFill>
              </a:defRPr>
            </a:pPr>
            <a:r>
              <a:t>Symbol: ✉️ (Catch)</a:t>
            </a:r>
          </a:p>
          <a:p>
            <a:pPr>
              <a:spcAft>
                <a:spcPts val="800"/>
              </a:spcAft>
              <a:defRPr sz="950">
                <a:solidFill>
                  <a:srgbClr val="F8FAFC"/>
                </a:solidFill>
              </a:defRPr>
            </a:pPr>
            <a:r>
              <a:t>Category: Inline Intermediate Event</a:t>
            </a:r>
          </a:p>
          <a:p>
            <a:pPr>
              <a:defRPr sz="950">
                <a:solidFill>
                  <a:srgbClr val="94A3B8"/>
                </a:solidFill>
              </a:defRPr>
            </a:pPr>
            <a:r>
              <a:t>Trigger: Asynchronous incoming payload from Credit Bureau external pool.</a:t>
            </a:r>
            <a:br/>
            <a:r>
              <a:t>Location: Core Banking Lane ('Receive Credit Report').</a:t>
            </a:r>
            <a:br/>
            <a:r>
              <a:t>Action: Unblocks sequence flow and passes credit report data into the scoring engine.</a:t>
            </a:r>
            <a:br/>
            <a:r>
              <a:t>Why Needed: Models non-polling, asynchronous inter-organizational communication.</a:t>
            </a:r>
          </a:p>
        </p:txBody>
      </p:sp>
      <p:sp>
        <p:nvSpPr>
          <p:cNvPr id="7" name="Rounded Rectangle 6"/>
          <p:cNvSpPr/>
          <p:nvPr/>
        </p:nvSpPr>
        <p:spPr>
          <a:xfrm>
            <a:off x="3456432" y="2331720"/>
            <a:ext cx="2542032" cy="3977639"/>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100" b="1">
                <a:solidFill>
                  <a:srgbClr val="60A5FA"/>
                </a:solidFill>
              </a:defRPr>
            </a:pPr>
            <a:r>
              <a:t>NON-INTERRUPTING TIMER</a:t>
            </a:r>
          </a:p>
          <a:p>
            <a:pPr>
              <a:defRPr sz="950" b="1">
                <a:solidFill>
                  <a:srgbClr val="94A3B8"/>
                </a:solidFill>
              </a:defRPr>
            </a:pPr>
            <a:r>
              <a:t>Symbol: ⏱️ (Dashed Double Ring)</a:t>
            </a:r>
          </a:p>
          <a:p>
            <a:pPr>
              <a:spcAft>
                <a:spcPts val="800"/>
              </a:spcAft>
              <a:defRPr sz="950">
                <a:solidFill>
                  <a:srgbClr val="F8FAFC"/>
                </a:solidFill>
              </a:defRPr>
            </a:pPr>
            <a:r>
              <a:t>Category: Boundary Event on Task</a:t>
            </a:r>
          </a:p>
          <a:p>
            <a:pPr>
              <a:defRPr sz="950">
                <a:solidFill>
                  <a:srgbClr val="94A3B8"/>
                </a:solidFill>
              </a:defRPr>
            </a:pPr>
            <a:r>
              <a:t>Trigger: 24-Hour SLA expiry on Credit Bureau request; 48-Hour SLA on e-signature.</a:t>
            </a:r>
            <a:br/>
            <a:r>
              <a:t>Location: 'Request Credit Report' &amp; 'E-Sign Agreement'.</a:t>
            </a:r>
            <a:br/>
            <a:r>
              <a:t>Action: Fires a parallel recovery path (retry request / manual wet-signature alert) WITHOUT cancelling the main task.</a:t>
            </a:r>
            <a:br/>
            <a:r>
              <a:t>Why Needed: Prevents application stall while preserving customer self-service window.</a:t>
            </a:r>
          </a:p>
        </p:txBody>
      </p:sp>
      <p:sp>
        <p:nvSpPr>
          <p:cNvPr id="8" name="Rounded Rectangle 7"/>
          <p:cNvSpPr/>
          <p:nvPr/>
        </p:nvSpPr>
        <p:spPr>
          <a:xfrm>
            <a:off x="6181344" y="2331720"/>
            <a:ext cx="2542032" cy="3977639"/>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100" b="1">
                <a:solidFill>
                  <a:srgbClr val="FB923C"/>
                </a:solidFill>
              </a:defRPr>
            </a:pPr>
            <a:r>
              <a:t>INTERRUPTING TIMER</a:t>
            </a:r>
          </a:p>
          <a:p>
            <a:pPr>
              <a:defRPr sz="950" b="1">
                <a:solidFill>
                  <a:srgbClr val="94A3B8"/>
                </a:solidFill>
              </a:defRPr>
            </a:pPr>
            <a:r>
              <a:t>Symbol: ⏱️ (Solid Double Ring)</a:t>
            </a:r>
          </a:p>
          <a:p>
            <a:pPr>
              <a:spcAft>
                <a:spcPts val="800"/>
              </a:spcAft>
              <a:defRPr sz="950">
                <a:solidFill>
                  <a:srgbClr val="F8FAFC"/>
                </a:solidFill>
              </a:defRPr>
            </a:pPr>
            <a:r>
              <a:t>Category: Boundary Event on Task</a:t>
            </a:r>
          </a:p>
          <a:p>
            <a:pPr>
              <a:defRPr sz="950">
                <a:solidFill>
                  <a:srgbClr val="94A3B8"/>
                </a:solidFill>
              </a:defRPr>
            </a:pPr>
            <a:r>
              <a:t>Trigger: 7-Day deadline expiry on loan offer.</a:t>
            </a:r>
            <a:br/>
            <a:r>
              <a:t>Location: Attached to 'Review Loan Offer' (Applicant).</a:t>
            </a:r>
            <a:br/>
            <a:r>
              <a:t>Action: Immediately CANCELS the active offer review task and diverts the token to 'EndEvent: Loan Offer Expired'.</a:t>
            </a:r>
            <a:br/>
            <a:r>
              <a:t>Why Needed: Enforces commercial and regulatory validity; banks cannot leave interest rates open indefinitely.</a:t>
            </a:r>
          </a:p>
        </p:txBody>
      </p:sp>
      <p:sp>
        <p:nvSpPr>
          <p:cNvPr id="9" name="Rounded Rectangle 8"/>
          <p:cNvSpPr/>
          <p:nvPr/>
        </p:nvSpPr>
        <p:spPr>
          <a:xfrm>
            <a:off x="8906256" y="2331720"/>
            <a:ext cx="2542032" cy="3977639"/>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100" b="1">
                <a:solidFill>
                  <a:srgbClr val="F87171"/>
                </a:solidFill>
              </a:defRPr>
            </a:pPr>
            <a:r>
              <a:t>INTERRUPTING ERROR BOUNDARY</a:t>
            </a:r>
          </a:p>
          <a:p>
            <a:pPr>
              <a:defRPr sz="950" b="1">
                <a:solidFill>
                  <a:srgbClr val="94A3B8"/>
                </a:solidFill>
              </a:defRPr>
            </a:pPr>
            <a:r>
              <a:t>Symbol: ⚡ (Solid Double Ring)</a:t>
            </a:r>
          </a:p>
          <a:p>
            <a:pPr>
              <a:spcAft>
                <a:spcPts val="800"/>
              </a:spcAft>
              <a:defRPr sz="950">
                <a:solidFill>
                  <a:srgbClr val="F8FAFC"/>
                </a:solidFill>
              </a:defRPr>
            </a:pPr>
            <a:r>
              <a:t>Category: Boundary Event on Task</a:t>
            </a:r>
          </a:p>
          <a:p>
            <a:pPr>
              <a:defRPr sz="950">
                <a:solidFill>
                  <a:srgbClr val="94A3B8"/>
                </a:solidFill>
              </a:defRPr>
            </a:pPr>
            <a:r>
              <a:t>Trigger: System fault thrown by core banking (NEFT/RTGS API failure, frozen account).</a:t>
            </a:r>
            <a:br/>
            <a:r>
              <a:t>Location: Attached to 'Disburse Loan Funds' Service Task.</a:t>
            </a:r>
            <a:br/>
            <a:r>
              <a:t>Action: Traps the technical exception, halts auto-disbursement, and routes to Operations for manual fallback retry.</a:t>
            </a:r>
            <a:br/>
            <a:r>
              <a:t>Why Needed: Isolates financial transaction faults; prevents silent system failures.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EXECUTION LIFECYCLE</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The Happy Path &amp; Business-Critical Flow</a:t>
            </a:r>
          </a:p>
        </p:txBody>
      </p:sp>
      <p:sp>
        <p:nvSpPr>
          <p:cNvPr id="5" name="Rounded Rectangle 4"/>
          <p:cNvSpPr/>
          <p:nvPr/>
        </p:nvSpPr>
        <p:spPr>
          <a:xfrm>
            <a:off x="731520" y="1371600"/>
            <a:ext cx="713232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200" b="1">
                <a:solidFill>
                  <a:srgbClr val="34D399"/>
                </a:solidFill>
              </a:defRPr>
            </a:pPr>
            <a:r>
              <a:t>THE 15-STEP SEQUENTIAL HAPPY PATH</a:t>
            </a:r>
          </a:p>
          <a:p>
            <a:pPr>
              <a:spcAft>
                <a:spcPts val="200"/>
              </a:spcAft>
              <a:defRPr sz="950">
                <a:solidFill>
                  <a:srgbClr val="F8FAFC"/>
                </a:solidFill>
              </a:defRPr>
            </a:pPr>
            <a:r>
              <a:t>1. Start Event: Applicant prepares and submits online loan application and KYC/income documents.</a:t>
            </a:r>
          </a:p>
          <a:p>
            <a:pPr>
              <a:spcAft>
                <a:spcPts val="200"/>
              </a:spcAft>
              <a:defRPr sz="950">
                <a:solidFill>
                  <a:srgbClr val="F8FAFC"/>
                </a:solidFill>
              </a:defRPr>
            </a:pPr>
            <a:r>
              <a:t>2. Service Task: System validates document schema completeness (ID, pay slips, statements present).</a:t>
            </a:r>
          </a:p>
          <a:p>
            <a:pPr>
              <a:spcAft>
                <a:spcPts val="200"/>
              </a:spcAft>
              <a:defRPr sz="950">
                <a:solidFill>
                  <a:srgbClr val="F8FAFC"/>
                </a:solidFill>
              </a:defRPr>
            </a:pPr>
            <a:r>
              <a:t>3. Parallel Split: Concurrently triggers KYC/AML screening, Credit Bureau request, and DTI computation.</a:t>
            </a:r>
          </a:p>
          <a:p>
            <a:pPr>
              <a:spcAft>
                <a:spcPts val="200"/>
              </a:spcAft>
              <a:defRPr sz="950">
                <a:solidFill>
                  <a:srgbClr val="F8FAFC"/>
                </a:solidFill>
              </a:defRPr>
            </a:pPr>
            <a:r>
              <a:t>4. Fraud &amp; Compliance: KYC identity matches government database; AML screening returns zero watchlist hits.</a:t>
            </a:r>
          </a:p>
          <a:p>
            <a:pPr>
              <a:spcAft>
                <a:spcPts val="200"/>
              </a:spcAft>
              <a:defRPr sz="950">
                <a:solidFill>
                  <a:srgbClr val="F8FAFC"/>
                </a:solidFill>
              </a:defRPr>
            </a:pPr>
            <a:r>
              <a:t>5. External Credit Bureau: Returns credit score above threshold (Score ≥ 750) via Message Flow.</a:t>
            </a:r>
          </a:p>
          <a:p>
            <a:pPr>
              <a:spcAft>
                <a:spcPts val="200"/>
              </a:spcAft>
              <a:defRPr sz="950">
                <a:solidFill>
                  <a:srgbClr val="F8FAFC"/>
                </a:solidFill>
              </a:defRPr>
            </a:pPr>
            <a:r>
              <a:t>6. Core Banking: Calculates DTI ratio within policy limit (DTI &lt; 40%).</a:t>
            </a:r>
          </a:p>
          <a:p>
            <a:pPr>
              <a:spcAft>
                <a:spcPts val="200"/>
              </a:spcAft>
              <a:defRPr sz="950">
                <a:solidFill>
                  <a:srgbClr val="F8FAFC"/>
                </a:solidFill>
              </a:defRPr>
            </a:pPr>
            <a:r>
              <a:t>7. Parallel Join: Synchronizes all three successful background streams.</a:t>
            </a:r>
          </a:p>
          <a:p>
            <a:pPr>
              <a:spcAft>
                <a:spcPts val="200"/>
              </a:spcAft>
              <a:defRPr sz="950">
                <a:solidFill>
                  <a:srgbClr val="F8FAFC"/>
                </a:solidFill>
              </a:defRPr>
            </a:pPr>
            <a:r>
              <a:t>8. User Task: Loan Officer verifies submitted salary slips and employer standing.</a:t>
            </a:r>
          </a:p>
          <a:p>
            <a:pPr>
              <a:spcAft>
                <a:spcPts val="200"/>
              </a:spcAft>
              <a:defRPr sz="950">
                <a:solidFill>
                  <a:srgbClr val="F8FAFC"/>
                </a:solidFill>
              </a:defRPr>
            </a:pPr>
            <a:r>
              <a:t>9. Service Task: Scoring engine calculates composite risk score → qualifies for Auto-Approval.</a:t>
            </a:r>
          </a:p>
          <a:p>
            <a:pPr>
              <a:spcAft>
                <a:spcPts val="200"/>
              </a:spcAft>
              <a:defRPr sz="950">
                <a:solidFill>
                  <a:srgbClr val="F8FAFC"/>
                </a:solidFill>
              </a:defRPr>
            </a:pPr>
            <a:r>
              <a:t>10. User Task: Loan Officer generates standard loan offer letter with approved interest rate.</a:t>
            </a:r>
          </a:p>
          <a:p>
            <a:pPr>
              <a:spcAft>
                <a:spcPts val="200"/>
              </a:spcAft>
              <a:defRPr sz="950">
                <a:solidFill>
                  <a:srgbClr val="F8FAFC"/>
                </a:solidFill>
              </a:defRPr>
            </a:pPr>
            <a:r>
              <a:t>11. Send Task: System dispatches formal offer letter to applicant portal &amp; registered email.</a:t>
            </a:r>
          </a:p>
          <a:p>
            <a:pPr>
              <a:spcAft>
                <a:spcPts val="200"/>
              </a:spcAft>
              <a:defRPr sz="950">
                <a:solidFill>
                  <a:srgbClr val="F8FAFC"/>
                </a:solidFill>
              </a:defRPr>
            </a:pPr>
            <a:r>
              <a:t>12. User Task: Applicant reviews terms and selects 'Accept Offer' within 7-day validity window.</a:t>
            </a:r>
          </a:p>
          <a:p>
            <a:pPr>
              <a:spcAft>
                <a:spcPts val="200"/>
              </a:spcAft>
              <a:defRPr sz="950">
                <a:solidFill>
                  <a:srgbClr val="F8FAFC"/>
                </a:solidFill>
              </a:defRPr>
            </a:pPr>
            <a:r>
              <a:t>13. User Task: Applicant digitally e-signs loan agreement via integrated platform.</a:t>
            </a:r>
          </a:p>
          <a:p>
            <a:pPr>
              <a:spcAft>
                <a:spcPts val="200"/>
              </a:spcAft>
              <a:defRPr sz="950">
                <a:solidFill>
                  <a:srgbClr val="F8FAFC"/>
                </a:solidFill>
              </a:defRPr>
            </a:pPr>
            <a:r>
              <a:t>14. User Task: Operations team verifies disbursement instructions and linked bank account.</a:t>
            </a:r>
          </a:p>
          <a:p>
            <a:pPr>
              <a:spcAft>
                <a:spcPts val="200"/>
              </a:spcAft>
              <a:defRPr sz="950">
                <a:solidFill>
                  <a:srgbClr val="F8FAFC"/>
                </a:solidFill>
              </a:defRPr>
            </a:pPr>
            <a:r>
              <a:t>15. Service Task &amp; End: Core Banking executes NEFT/RTGS transfer, creates loan account → Loan Disbursed!</a:t>
            </a:r>
          </a:p>
        </p:txBody>
      </p:sp>
      <p:sp>
        <p:nvSpPr>
          <p:cNvPr id="6" name="Rounded Rectangle 5"/>
          <p:cNvSpPr/>
          <p:nvPr/>
        </p:nvSpPr>
        <p:spPr>
          <a:xfrm>
            <a:off x="8046720" y="1371600"/>
            <a:ext cx="33832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00D2EB"/>
                </a:solidFill>
              </a:defRPr>
            </a:pPr>
            <a:r>
              <a:t>CRITICAL BPMN TERMINOLOGY CLARIFICATION</a:t>
            </a:r>
          </a:p>
          <a:p>
            <a:pPr>
              <a:spcAft>
                <a:spcPts val="800"/>
              </a:spcAft>
            </a:pPr>
            <a:r>
              <a:rPr b="1" sz="1000">
                <a:solidFill>
                  <a:srgbClr val="F8FAFC"/>
                </a:solidFill>
              </a:rPr>
              <a:t>Happy Path vs Critical Path: </a:t>
            </a:r>
            <a:r>
              <a:rPr sz="950">
                <a:solidFill>
                  <a:srgbClr val="94A3B8"/>
                </a:solidFill>
              </a:rPr>
              <a:t>In academic workflow modelling, the 'Happy Path' describes the optimal successful business execution with zero rework or failures. It should NOT be confused with the mathematically calculated Critical Path Method (CPM).</a:t>
            </a:r>
          </a:p>
          <a:p>
            <a:pPr>
              <a:spcAft>
                <a:spcPts val="800"/>
              </a:spcAft>
            </a:pPr>
            <a:r>
              <a:rPr b="1" sz="1000">
                <a:solidFill>
                  <a:srgbClr val="F8FAFC"/>
                </a:solidFill>
              </a:rPr>
              <a:t>Why CPM is Not Inferred: </a:t>
            </a:r>
            <a:r>
              <a:rPr sz="950">
                <a:solidFill>
                  <a:srgbClr val="94A3B8"/>
                </a:solidFill>
              </a:rPr>
              <a:t>CPM requires deterministic task duration distributions (earliest/latest start and slack). BPMN defines behavioral control-flow semantics. Inventing arbitrary durations without empirical log data is academically unsound.</a:t>
            </a:r>
          </a:p>
          <a:p>
            <a:pPr>
              <a:spcAft>
                <a:spcPts val="800"/>
              </a:spcAft>
            </a:pPr>
            <a:r>
              <a:rPr b="1" sz="1000">
                <a:solidFill>
                  <a:srgbClr val="F8FAFC"/>
                </a:solidFill>
              </a:rPr>
              <a:t>Business-Critical Milestones: </a:t>
            </a:r>
            <a:r>
              <a:rPr sz="950">
                <a:solidFill>
                  <a:srgbClr val="94A3B8"/>
                </a:solidFill>
              </a:rPr>
              <a:t>1. Automated Verification Gate (all 3 parallel checks pass).
2. Eligibility Adjudication (risk tier established).
3. Customer Commitment (offer acceptance &amp; e-signature).
4. Fund Disbursement &amp; Account Creation.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EXCEPTION REGISTER</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Critical Failure Points Matrix (L1 – L6)</a:t>
            </a:r>
          </a:p>
        </p:txBody>
      </p:sp>
      <p:sp>
        <p:nvSpPr>
          <p:cNvPr id="5" name="Rounded Rectangle 4"/>
          <p:cNvSpPr/>
          <p:nvPr/>
        </p:nvSpPr>
        <p:spPr>
          <a:xfrm>
            <a:off x="731520" y="1371600"/>
            <a:ext cx="106984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F87171"/>
                </a:solidFill>
              </a:defRPr>
            </a:pPr>
            <a:r>
              <a:t>MANDATORY FAILURE PATH REGISTER — AUTOMATED VERIFICATION PHASE</a:t>
            </a:r>
          </a:p>
          <a:p>
            <a:pPr>
              <a:spcAft>
                <a:spcPts val="500"/>
              </a:spcAft>
            </a:pPr>
            <a:r>
              <a:rPr b="1" sz="1000">
                <a:solidFill>
                  <a:srgbClr val="00D2EB"/>
                </a:solidFill>
              </a:rPr>
              <a:t>[L1] Document Incompleteness: </a:t>
            </a:r>
            <a:r>
              <a:rPr sz="950">
                <a:solidFill>
                  <a:srgbClr val="94A3B8"/>
                </a:solidFill>
              </a:rPr>
              <a:t>Trigger: Missing Aadhaar/PAN, illegible bank statements, wrong PDF format. | </a:t>
            </a:r>
            <a:r>
              <a:rPr sz="950">
                <a:solidFill>
                  <a:srgbClr val="F8FAFC"/>
                </a:solidFill>
              </a:rPr>
              <a:t>Detection: Service Task validation schema fails → Exclusive Gateway routes to 'Return Application'. | </a:t>
            </a:r>
            <a:r>
              <a:rPr b="1" sz="950">
                <a:solidFill>
                  <a:srgbClr val="FB923C"/>
                </a:solidFill>
              </a:rPr>
              <a:t>Outcome: Correction Loop OR 'EndEvent: Application Lapsed'</a:t>
            </a:r>
          </a:p>
          <a:p>
            <a:pPr>
              <a:spcAft>
                <a:spcPts val="500"/>
              </a:spcAft>
            </a:pPr>
            <a:r>
              <a:rPr b="1" sz="1000">
                <a:solidFill>
                  <a:srgbClr val="00D2EB"/>
                </a:solidFill>
              </a:rPr>
              <a:t>[L2] KYC Identity Mismatch: </a:t>
            </a:r>
            <a:r>
              <a:rPr sz="950">
                <a:solidFill>
                  <a:srgbClr val="94A3B8"/>
                </a:solidFill>
              </a:rPr>
              <a:t>Trigger: Name misspelling, date of birth mismatch, expired ID document. | </a:t>
            </a:r>
            <a:r>
              <a:rPr sz="950">
                <a:solidFill>
                  <a:srgbClr val="F8FAFC"/>
                </a:solidFill>
              </a:rPr>
              <a:t>Detection: KYC Service Task returns API error code → Exclusive Gateway branches to exception. | </a:t>
            </a:r>
            <a:r>
              <a:rPr b="1" sz="950">
                <a:solidFill>
                  <a:srgbClr val="FB923C"/>
                </a:solidFill>
              </a:rPr>
              <a:t>Outcome: Manual Clearance OR 'EndEvent: Fraud Terminated'</a:t>
            </a:r>
          </a:p>
          <a:p>
            <a:pPr>
              <a:spcAft>
                <a:spcPts val="500"/>
              </a:spcAft>
            </a:pPr>
            <a:r>
              <a:rPr b="1" sz="1000">
                <a:solidFill>
                  <a:srgbClr val="00D2EB"/>
                </a:solidFill>
              </a:rPr>
              <a:t>[L3] AML / Watchlist Flag: </a:t>
            </a:r>
            <a:r>
              <a:rPr sz="950">
                <a:solidFill>
                  <a:srgbClr val="94A3B8"/>
                </a:solidFill>
              </a:rPr>
              <a:t>Trigger: Applicant name matches sanctioned individuals, PEP lists, or fraud DB. | </a:t>
            </a:r>
            <a:r>
              <a:rPr sz="950">
                <a:solidFill>
                  <a:srgbClr val="F8FAFC"/>
                </a:solidFill>
              </a:rPr>
              <a:t>Detection: AML Service Task flags risk score ≥ threshold → Exclusive Gateway branches to probe. | </a:t>
            </a:r>
            <a:r>
              <a:rPr b="1" sz="950">
                <a:solidFill>
                  <a:srgbClr val="FB923C"/>
                </a:solidFill>
              </a:rPr>
              <a:t>Outcome: Terminal 'EndEvent: Application Terminated – Fraud/AML'</a:t>
            </a:r>
          </a:p>
          <a:p>
            <a:pPr>
              <a:spcAft>
                <a:spcPts val="500"/>
              </a:spcAft>
            </a:pPr>
            <a:r>
              <a:rPr b="1" sz="1000">
                <a:solidFill>
                  <a:srgbClr val="00D2EB"/>
                </a:solidFill>
              </a:rPr>
              <a:t>[L4] Credit Bureau Timeout: </a:t>
            </a:r>
            <a:r>
              <a:rPr sz="950">
                <a:solidFill>
                  <a:srgbClr val="94A3B8"/>
                </a:solidFill>
              </a:rPr>
              <a:t>Trigger: Credit bureau service unresponsive, network partition, timeout &gt; 24h. | </a:t>
            </a:r>
            <a:r>
              <a:rPr sz="950">
                <a:solidFill>
                  <a:srgbClr val="F8FAFC"/>
                </a:solidFill>
              </a:rPr>
              <a:t>Detection: Non-interrupting Timer Boundary Event (24h) fires on outbound request task. | </a:t>
            </a:r>
            <a:r>
              <a:rPr b="1" sz="950">
                <a:solidFill>
                  <a:srgbClr val="FB923C"/>
                </a:solidFill>
              </a:rPr>
              <a:t>Outcome: Resilient Catch on retry OR manual credit assessment fallback</a:t>
            </a:r>
          </a:p>
          <a:p>
            <a:pPr>
              <a:spcAft>
                <a:spcPts val="500"/>
              </a:spcAft>
            </a:pPr>
            <a:r>
              <a:rPr b="1" sz="1000">
                <a:solidFill>
                  <a:srgbClr val="00D2EB"/>
                </a:solidFill>
              </a:rPr>
              <a:t>[L5] Credit Score Rejection: </a:t>
            </a:r>
            <a:r>
              <a:rPr sz="950">
                <a:solidFill>
                  <a:srgbClr val="94A3B8"/>
                </a:solidFill>
              </a:rPr>
              <a:t>Trigger: Report returns credit bureau score below minimum underwriting floor (&lt; 600). | </a:t>
            </a:r>
            <a:r>
              <a:rPr sz="950">
                <a:solidFill>
                  <a:srgbClr val="F8FAFC"/>
                </a:solidFill>
              </a:rPr>
              <a:t>Detection: Credit Bureau gateway evaluates score; feeds failed attribute into parallel join. | </a:t>
            </a:r>
            <a:r>
              <a:rPr b="1" sz="950">
                <a:solidFill>
                  <a:srgbClr val="FB923C"/>
                </a:solidFill>
              </a:rPr>
              <a:t>Outcome: Terminal 'EndEvent: Loan Rejected – Low Credit Score'</a:t>
            </a:r>
          </a:p>
          <a:p>
            <a:pPr>
              <a:spcAft>
                <a:spcPts val="500"/>
              </a:spcAft>
            </a:pPr>
            <a:r>
              <a:rPr b="1" sz="1000">
                <a:solidFill>
                  <a:srgbClr val="00D2EB"/>
                </a:solidFill>
              </a:rPr>
              <a:t>[L6] Excessive DTI Ratio: </a:t>
            </a:r>
            <a:r>
              <a:rPr sz="950">
                <a:solidFill>
                  <a:srgbClr val="94A3B8"/>
                </a:solidFill>
              </a:rPr>
              <a:t>Trigger: Applicant liabilities result in debt-to-income ratio exceeding 50% limit. | </a:t>
            </a:r>
            <a:r>
              <a:rPr sz="950">
                <a:solidFill>
                  <a:srgbClr val="F8FAFC"/>
                </a:solidFill>
              </a:rPr>
              <a:t>Detection: Automated DTI Service Task computes ratio &gt; threshold → Exclusive Gateway routes to reject. | </a:t>
            </a:r>
            <a:r>
              <a:rPr b="1" sz="950">
                <a:solidFill>
                  <a:srgbClr val="FB923C"/>
                </a:solidFill>
              </a:rPr>
              <a:t>Outcome: Terminal 'EndEvent: Loan Rejected – Excessive DTI'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BRANCHING LOGIC</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Alternate &amp; Exception Paths (L7 – L12)</a:t>
            </a:r>
          </a:p>
        </p:txBody>
      </p:sp>
      <p:sp>
        <p:nvSpPr>
          <p:cNvPr id="5" name="Rounded Rectangle 4"/>
          <p:cNvSpPr/>
          <p:nvPr/>
        </p:nvSpPr>
        <p:spPr>
          <a:xfrm>
            <a:off x="7315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00D2EB"/>
                </a:solidFill>
              </a:defRPr>
            </a:pPr>
            <a:r>
              <a:t>UNDERWRITER ADJUDICATION &amp; COLLATERAL LOOP (L7 &amp; L8)</a:t>
            </a:r>
          </a:p>
          <a:p>
            <a:pPr>
              <a:spcAft>
                <a:spcPts val="800"/>
              </a:spcAft>
            </a:pPr>
            <a:r>
              <a:rPr b="1" sz="1000">
                <a:solidFill>
                  <a:srgbClr val="F8FAFC"/>
                </a:solidFill>
              </a:rPr>
              <a:t>Borderline Risk Scoring (L7): </a:t>
            </a:r>
            <a:r>
              <a:rPr sz="950">
                <a:solidFill>
                  <a:srgbClr val="94A3B8"/>
                </a:solidFill>
              </a:rPr>
              <a:t>When eligibility scoring falls into the 600–749 range or loan amount exceeds policy caps, the Exclusive Gateway diverts the application away from auto-approval to 'Underwriter Full Manual Review'.</a:t>
            </a:r>
          </a:p>
          <a:p>
            <a:pPr>
              <a:spcAft>
                <a:spcPts val="800"/>
              </a:spcAft>
            </a:pPr>
            <a:r>
              <a:rPr b="1" sz="1000">
                <a:solidFill>
                  <a:srgbClr val="F8FAFC"/>
                </a:solidFill>
              </a:rPr>
              <a:t>Underwriter Three-Way Branch: </a:t>
            </a:r>
            <a:r>
              <a:rPr sz="950">
                <a:solidFill>
                  <a:srgbClr val="94A3B8"/>
                </a:solidFill>
              </a:rPr>
              <a:t>The underwriter has three mutually exclusive outcomes:
• Approve: overrides risk tier, proceeds to offer generation.
• Require Collateral: triggers secured asset evaluation (L8).
• Reject: terminates flow to 'EndEvent: Loan Rejected'.</a:t>
            </a:r>
          </a:p>
          <a:p>
            <a:pPr>
              <a:spcAft>
                <a:spcPts val="800"/>
              </a:spcAft>
            </a:pPr>
            <a:r>
              <a:rPr b="1" sz="1000">
                <a:solidFill>
                  <a:srgbClr val="F8FAFC"/>
                </a:solidFill>
              </a:rPr>
              <a:t>Collateral Valuation &amp; Re-underwrite Loop (L8): </a:t>
            </a:r>
            <a:r>
              <a:rPr sz="950">
                <a:solidFill>
                  <a:srgbClr val="94A3B8"/>
                </a:solidFill>
              </a:rPr>
              <a:t>If collateral is required, a User Task requests an appraiser valuation. An Exclusive Gateway checks if Loan-to-Value (LTV) meets policy. If insufficient, 'Re-Underwrite' loops back to Underwriter Review with revised terms, avoiding premature rejection.</a:t>
            </a:r>
          </a:p>
        </p:txBody>
      </p:sp>
      <p:sp>
        <p:nvSpPr>
          <p:cNvPr id="6" name="Rounded Rectangle 5"/>
          <p:cNvSpPr/>
          <p:nvPr/>
        </p:nvSpPr>
        <p:spPr>
          <a:xfrm>
            <a:off x="62179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FB923C"/>
                </a:solidFill>
              </a:defRPr>
            </a:pPr>
            <a:r>
              <a:t>OFFER EXPIRY, WITHDRAWAL &amp; DISBURSEMENT FAULTS (L9 – L12)</a:t>
            </a:r>
          </a:p>
          <a:p>
            <a:pPr>
              <a:spcAft>
                <a:spcPts val="800"/>
              </a:spcAft>
            </a:pPr>
            <a:r>
              <a:rPr b="1" sz="1000">
                <a:solidFill>
                  <a:srgbClr val="F8FAFC"/>
                </a:solidFill>
              </a:rPr>
              <a:t>L9 Offer Acceptance Timeout: </a:t>
            </a:r>
            <a:r>
              <a:rPr sz="950">
                <a:solidFill>
                  <a:srgbClr val="94A3B8"/>
                </a:solidFill>
              </a:rPr>
              <a:t>An interrupting boundary timer on 'Review Loan Offer' fires after 7 days, immediately aborting the offer and routing to 'EndEvent: Loan Offer Expired'.</a:t>
            </a:r>
          </a:p>
          <a:p>
            <a:pPr>
              <a:spcAft>
                <a:spcPts val="800"/>
              </a:spcAft>
            </a:pPr>
            <a:r>
              <a:rPr b="1" sz="1000">
                <a:solidFill>
                  <a:srgbClr val="F8FAFC"/>
                </a:solidFill>
              </a:rPr>
              <a:t>L10 Applicant Withdrawal / Negotiation: </a:t>
            </a:r>
            <a:r>
              <a:rPr sz="950">
                <a:solidFill>
                  <a:srgbClr val="94A3B8"/>
                </a:solidFill>
              </a:rPr>
              <a:t>Applicants can select 'Counter-Offer' (initiating negotiation with Loan Officer) or 'Withdraw Application' (routing to data archival and 'EndEvent: Application Withdrawn').</a:t>
            </a:r>
          </a:p>
          <a:p>
            <a:pPr>
              <a:spcAft>
                <a:spcPts val="800"/>
              </a:spcAft>
            </a:pPr>
            <a:r>
              <a:rPr b="1" sz="1000">
                <a:solidFill>
                  <a:srgbClr val="F8FAFC"/>
                </a:solidFill>
              </a:rPr>
              <a:t>L11 E-Signature Latency: </a:t>
            </a:r>
            <a:r>
              <a:rPr sz="950">
                <a:solidFill>
                  <a:srgbClr val="94A3B8"/>
                </a:solidFill>
              </a:rPr>
              <a:t>A non-interrupting boundary timer (48h) triggers an Operations alert for wet-signature preparation without cancelling digital signing capability.</a:t>
            </a:r>
          </a:p>
          <a:p>
            <a:pPr>
              <a:spcAft>
                <a:spcPts val="800"/>
              </a:spcAft>
            </a:pPr>
            <a:r>
              <a:rPr b="1" sz="1000">
                <a:solidFill>
                  <a:srgbClr val="F8FAFC"/>
                </a:solidFill>
              </a:rPr>
              <a:t>L12 Core Banking Disbursement Error: </a:t>
            </a:r>
            <a:r>
              <a:rPr sz="950">
                <a:solidFill>
                  <a:srgbClr val="94A3B8"/>
                </a:solidFill>
              </a:rPr>
              <a:t>An interrupting Error Boundary Event on 'Disburse Loan Funds' catches payment gateway / RTGS faults, preventing double-transfers and routing to Operations retry.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FAULT ARCHITECTURE</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Failure Handling, Robustness &amp; Governance</a:t>
            </a:r>
          </a:p>
        </p:txBody>
      </p:sp>
      <p:sp>
        <p:nvSpPr>
          <p:cNvPr id="5" name="Rounded Rectangle 4"/>
          <p:cNvSpPr/>
          <p:nvPr/>
        </p:nvSpPr>
        <p:spPr>
          <a:xfrm>
            <a:off x="731520" y="1371600"/>
            <a:ext cx="10698480" cy="109728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sz="1150" b="1">
                <a:solidFill>
                  <a:srgbClr val="00D2EB"/>
                </a:solidFill>
              </a:defRPr>
            </a:pPr>
            <a:r>
              <a:t>🔁  RETRY LIMITS &amp; LOOP CONTROL</a:t>
            </a:r>
          </a:p>
          <a:p>
            <a:pPr>
              <a:defRPr sz="950">
                <a:solidFill>
                  <a:srgbClr val="F8FAFC"/>
                </a:solidFill>
              </a:defRPr>
            </a:pPr>
            <a:r>
              <a:t>Uncontrolled loops create infinite execution deadlocks. Our model enforces strict loop limits on document corrections (L1) and credit bureau retries (L4). Once retry thresholds are exhausted, the flow deterministically escalates or terminates to an explicit Lapsed End Event.</a:t>
            </a:r>
          </a:p>
        </p:txBody>
      </p:sp>
      <p:sp>
        <p:nvSpPr>
          <p:cNvPr id="6" name="Rounded Rectangle 5"/>
          <p:cNvSpPr/>
          <p:nvPr/>
        </p:nvSpPr>
        <p:spPr>
          <a:xfrm>
            <a:off x="731520" y="2606040"/>
            <a:ext cx="10698480" cy="109728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sz="1150" b="1">
                <a:solidFill>
                  <a:srgbClr val="34D399"/>
                </a:solidFill>
              </a:defRPr>
            </a:pPr>
            <a:r>
              <a:t>⏰  SLA TIMERS &amp; ESCALATION</a:t>
            </a:r>
          </a:p>
          <a:p>
            <a:pPr>
              <a:defRPr sz="950">
                <a:solidFill>
                  <a:srgbClr val="F8FAFC"/>
                </a:solidFill>
              </a:defRPr>
            </a:pPr>
            <a:r>
              <a:t>Strict temporal boundaries govern customer and operational responsiveness. Interrupting timers enforce commercial validity (7-day offer expiry), while non-interrupting timers trigger parallel administrative alerts (e-sign delays) without breaking customer self-service.</a:t>
            </a:r>
          </a:p>
        </p:txBody>
      </p:sp>
      <p:sp>
        <p:nvSpPr>
          <p:cNvPr id="7" name="Rounded Rectangle 6"/>
          <p:cNvSpPr/>
          <p:nvPr/>
        </p:nvSpPr>
        <p:spPr>
          <a:xfrm>
            <a:off x="731520" y="3840480"/>
            <a:ext cx="10698480" cy="109728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sz="1150" b="1">
                <a:solidFill>
                  <a:srgbClr val="60A5FA"/>
                </a:solidFill>
              </a:defRPr>
            </a:pPr>
            <a:r>
              <a:t>👥  HUMAN-IN-THE-LOOP FALLBACK</a:t>
            </a:r>
          </a:p>
          <a:p>
            <a:pPr>
              <a:defRPr sz="950">
                <a:solidFill>
                  <a:srgbClr val="F8FAFC"/>
                </a:solidFill>
              </a:defRPr>
            </a:pPr>
            <a:r>
              <a:t>Automated services can yield false negatives. When automated KYC API fails (L2), the model falls back to a Compliance Officer User Task. When e-signature platforms fail (L11), operations can execute physical wet-signatures, ensuring high conversion rates.</a:t>
            </a:r>
          </a:p>
        </p:txBody>
      </p:sp>
      <p:sp>
        <p:nvSpPr>
          <p:cNvPr id="8" name="Rounded Rectangle 7"/>
          <p:cNvSpPr/>
          <p:nvPr/>
        </p:nvSpPr>
        <p:spPr>
          <a:xfrm>
            <a:off x="731520" y="5074920"/>
            <a:ext cx="10698480" cy="109728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defRPr sz="1150" b="1">
                <a:solidFill>
                  <a:srgbClr val="C084FC"/>
                </a:solidFill>
              </a:defRPr>
            </a:pPr>
            <a:r>
              <a:t>⚖️  RECOVERY VS. COMPENSATION</a:t>
            </a:r>
          </a:p>
          <a:p>
            <a:pPr>
              <a:defRPr sz="950">
                <a:solidFill>
                  <a:srgbClr val="F8FAFC"/>
                </a:solidFill>
              </a:defRPr>
            </a:pPr>
            <a:r>
              <a:t>In BPMN 2.0, 'Recovery' refers to forward error handling (retrying a task or taking an alternate branch). 'Compensation' (Undo / Compensate Event) cancels committed state. Our model utilizes forward recovery for disbursement retries and data archival on applicant withdrawal.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MODEL GOVERNANCE</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Design Decisions, Validation &amp; Limitations</a:t>
            </a:r>
          </a:p>
        </p:txBody>
      </p:sp>
      <p:sp>
        <p:nvSpPr>
          <p:cNvPr id="5" name="Rounded Rectangle 4"/>
          <p:cNvSpPr/>
          <p:nvPr/>
        </p:nvSpPr>
        <p:spPr>
          <a:xfrm>
            <a:off x="7315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34D399"/>
                </a:solidFill>
              </a:defRPr>
            </a:pPr>
            <a:r>
              <a:t>CORE MODELLING DECISIONS &amp; RIGOR</a:t>
            </a:r>
          </a:p>
          <a:p>
            <a:pPr>
              <a:spcAft>
                <a:spcPts val="800"/>
              </a:spcAft>
            </a:pPr>
            <a:r>
              <a:rPr b="1" sz="1000">
                <a:solidFill>
                  <a:srgbClr val="F8FAFC"/>
                </a:solidFill>
              </a:rPr>
              <a:t>✔ Strict Pool vs. Lane Boundary Discipline: </a:t>
            </a:r>
            <a:r>
              <a:rPr sz="950">
                <a:solidFill>
                  <a:srgbClr val="94A3B8"/>
                </a:solidFill>
              </a:rPr>
              <a:t>In BPMN 2.0, Sequence Flows can NEVER cross Pool boundaries. Because the Credit Bureau is an external legal entity, it was modelled as a separate Pool. All communication occurs strictly via Message Flows, preserving formal inter-organizational boundaries.</a:t>
            </a:r>
          </a:p>
          <a:p>
            <a:pPr>
              <a:spcAft>
                <a:spcPts val="800"/>
              </a:spcAft>
            </a:pPr>
            <a:r>
              <a:rPr b="1" sz="1000">
                <a:solidFill>
                  <a:srgbClr val="F8FAFC"/>
                </a:solidFill>
              </a:rPr>
              <a:t>✔ Deterministic Parallel Split &amp; Synchronized Join: </a:t>
            </a:r>
            <a:r>
              <a:rPr sz="950">
                <a:solidFill>
                  <a:srgbClr val="94A3B8"/>
                </a:solidFill>
              </a:rPr>
              <a:t>Avoided race conditions and token leaks by pairing the Parallel Split with an explicit Parallel Join prior to manual income verification.</a:t>
            </a:r>
          </a:p>
          <a:p>
            <a:pPr>
              <a:spcAft>
                <a:spcPts val="800"/>
              </a:spcAft>
            </a:pPr>
            <a:r>
              <a:rPr b="1" sz="1000">
                <a:solidFill>
                  <a:srgbClr val="F8FAFC"/>
                </a:solidFill>
              </a:rPr>
              <a:t>✔ BPMN 2.0 Schema &amp; Linter Validation: </a:t>
            </a:r>
            <a:r>
              <a:rPr sz="950">
                <a:solidFill>
                  <a:srgbClr val="94A3B8"/>
                </a:solidFill>
              </a:rPr>
              <a:t>The `.bpmn` XML was validated against the official OMG BPMN 2.0 XML Schema Definition (XSD). Diagram parsed and rendered cleanly in Camunda Modeler 5.49 and bpmn-js without syntax or containment errors.</a:t>
            </a:r>
          </a:p>
          <a:p>
            <a:pPr>
              <a:spcAft>
                <a:spcPts val="800"/>
              </a:spcAft>
            </a:pPr>
            <a:r>
              <a:rPr b="1" sz="1000">
                <a:solidFill>
                  <a:srgbClr val="F8FAFC"/>
                </a:solidFill>
              </a:rPr>
              <a:t>✔ Granular Failure Typology: </a:t>
            </a:r>
            <a:r>
              <a:rPr sz="950">
                <a:solidFill>
                  <a:srgbClr val="94A3B8"/>
                </a:solidFill>
              </a:rPr>
              <a:t>All 12 failure modes have dedicated recovery paths or distinct terminal end states, ensuring full auditability.</a:t>
            </a:r>
          </a:p>
        </p:txBody>
      </p:sp>
      <p:sp>
        <p:nvSpPr>
          <p:cNvPr id="6" name="Rounded Rectangle 5"/>
          <p:cNvSpPr/>
          <p:nvPr/>
        </p:nvSpPr>
        <p:spPr>
          <a:xfrm>
            <a:off x="6217920" y="1371600"/>
            <a:ext cx="521208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100" b="1">
                <a:solidFill>
                  <a:srgbClr val="FB923C"/>
                </a:solidFill>
              </a:defRPr>
            </a:pPr>
            <a:r>
              <a:t>HONEST LIMITATIONS &amp; FUTURE ENHANCEMENTS</a:t>
            </a:r>
          </a:p>
          <a:p>
            <a:pPr>
              <a:spcAft>
                <a:spcPts val="800"/>
              </a:spcAft>
            </a:pPr>
            <a:r>
              <a:rPr b="1" sz="1000">
                <a:solidFill>
                  <a:srgbClr val="F8FAFC"/>
                </a:solidFill>
              </a:rPr>
              <a:t>🔍 DMN Decision Table Integration: </a:t>
            </a:r>
            <a:r>
              <a:rPr sz="950">
                <a:solidFill>
                  <a:srgbClr val="94A3B8"/>
                </a:solidFill>
              </a:rPr>
              <a:t>Current Limitation: Eligibility and DTI scoring logic are executed inside Service Tasks.
Proposed Improvement: Extract scoring rules into standalone Decision Model and Notation (DMN) tables linked via Business Rule Tasks for business-user modifiability.</a:t>
            </a:r>
          </a:p>
          <a:p>
            <a:pPr>
              <a:spcAft>
                <a:spcPts val="800"/>
              </a:spcAft>
            </a:pPr>
            <a:r>
              <a:rPr b="1" sz="1000">
                <a:solidFill>
                  <a:srgbClr val="F8FAFC"/>
                </a:solidFill>
              </a:rPr>
              <a:t>🔍 Event Sub-Process for Global Cancellation: </a:t>
            </a:r>
            <a:r>
              <a:rPr sz="950">
                <a:solidFill>
                  <a:srgbClr val="94A3B8"/>
                </a:solidFill>
              </a:rPr>
              <a:t>Current Limitation: Applicant withdrawal is modelled via conditional gateway after offer review.
Proposed Improvement: Implement an Interrupting Event Sub-Process with a Message Start Event to permit applicant withdrawal at ANY active stage of the lifecycle.</a:t>
            </a:r>
          </a:p>
          <a:p>
            <a:pPr>
              <a:spcAft>
                <a:spcPts val="800"/>
              </a:spcAft>
            </a:pPr>
            <a:r>
              <a:rPr b="1" sz="1000">
                <a:solidFill>
                  <a:srgbClr val="F8FAFC"/>
                </a:solidFill>
              </a:rPr>
              <a:t>🔍 Transactional Sub-Process for Disbursement: </a:t>
            </a:r>
            <a:r>
              <a:rPr sz="950">
                <a:solidFill>
                  <a:srgbClr val="94A3B8"/>
                </a:solidFill>
              </a:rPr>
              <a:t>Current Limitation: Disbursement failure uses an Error Boundary Event.
Proposed Improvement: Encapsulate disbursement, ledger reservation, and notification in a Transactional Sub-Process with automated compensation.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3108960" cy="292608"/>
          </a:xfrm>
          <a:prstGeom prst="roundRect">
            <a:avLst/>
          </a:prstGeom>
          <a:solidFill>
            <a:srgbClr val="18263E"/>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D2EB"/>
                </a:solidFill>
                <a:latin typeface="Arial"/>
              </a:defRPr>
            </a:pPr>
            <a:r>
              <a:t>PROJECT SYNTHESIS</a:t>
            </a:r>
          </a:p>
        </p:txBody>
      </p:sp>
      <p:sp>
        <p:nvSpPr>
          <p:cNvPr id="4" name="TextBox 3"/>
          <p:cNvSpPr txBox="1"/>
          <p:nvPr/>
        </p:nvSpPr>
        <p:spPr>
          <a:xfrm>
            <a:off x="731520" y="713232"/>
            <a:ext cx="10698480" cy="594360"/>
          </a:xfrm>
          <a:prstGeom prst="rect">
            <a:avLst/>
          </a:prstGeom>
          <a:noFill/>
        </p:spPr>
        <p:txBody>
          <a:bodyPr wrap="square">
            <a:spAutoFit/>
          </a:bodyPr>
          <a:lstStyle/>
          <a:p>
            <a:pPr>
              <a:defRPr sz="2200" b="1">
                <a:solidFill>
                  <a:srgbClr val="F8FAFC"/>
                </a:solidFill>
                <a:latin typeface="Arial"/>
              </a:defRPr>
            </a:pPr>
            <a:r>
              <a:t>Conclusion &amp; Academic Summary</a:t>
            </a:r>
          </a:p>
        </p:txBody>
      </p:sp>
      <p:sp>
        <p:nvSpPr>
          <p:cNvPr id="5" name="Rounded Rectangle 4"/>
          <p:cNvSpPr/>
          <p:nvPr/>
        </p:nvSpPr>
        <p:spPr>
          <a:xfrm>
            <a:off x="731520" y="1371600"/>
            <a:ext cx="6400800" cy="4937760"/>
          </a:xfrm>
          <a:prstGeom prst="roundRect">
            <a:avLst/>
          </a:prstGeom>
          <a:solidFill>
            <a:srgbClr val="18263E"/>
          </a:solidFill>
          <a:ln w="12700">
            <a:solidFill>
              <a:srgbClr val="2D446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200" b="1">
                <a:solidFill>
                  <a:srgbClr val="00D2EB"/>
                </a:solidFill>
              </a:defRPr>
            </a:pPr>
            <a:r>
              <a:t>KEY ACADEMIC &amp; PRACTICAL TAKEAWAYS</a:t>
            </a:r>
          </a:p>
          <a:p>
            <a:pPr>
              <a:spcAft>
                <a:spcPts val="1000"/>
              </a:spcAft>
            </a:pPr>
            <a:r>
              <a:rPr b="1" sz="1050">
                <a:solidFill>
                  <a:srgbClr val="F8FAFC"/>
                </a:solidFill>
              </a:rPr>
              <a:t>✔ Comprehensive Process Coverage: </a:t>
            </a:r>
            <a:r>
              <a:rPr sz="1000">
                <a:solidFill>
                  <a:srgbClr val="94A3B8"/>
                </a:solidFill>
              </a:rPr>
              <a:t>Successfully modelled the full retail loan origination lifecycle across 7 participants, transitioning from initial portal submission to core banking disbursement.</a:t>
            </a:r>
          </a:p>
          <a:p>
            <a:pPr>
              <a:spcAft>
                <a:spcPts val="1000"/>
              </a:spcAft>
            </a:pPr>
            <a:r>
              <a:rPr b="1" sz="1050">
                <a:solidFill>
                  <a:srgbClr val="F8FAFC"/>
                </a:solidFill>
              </a:rPr>
              <a:t>✔ Engineering for Real-World Failure: </a:t>
            </a:r>
            <a:r>
              <a:rPr sz="1000">
                <a:solidFill>
                  <a:srgbClr val="94A3B8"/>
                </a:solidFill>
              </a:rPr>
              <a:t>Incorporated 12 distinct failure paths (L1–L12) spanning data validation, compliance, external API latency, underwriter deliberation, and transaction faults.</a:t>
            </a:r>
          </a:p>
          <a:p>
            <a:pPr>
              <a:spcAft>
                <a:spcPts val="1000"/>
              </a:spcAft>
            </a:pPr>
            <a:r>
              <a:rPr b="1" sz="1050">
                <a:solidFill>
                  <a:srgbClr val="F8FAFC"/>
                </a:solidFill>
              </a:rPr>
              <a:t>✔ Advanced BPMN 2.0 Semantics: </a:t>
            </a:r>
            <a:r>
              <a:rPr sz="1000">
                <a:solidFill>
                  <a:srgbClr val="94A3B8"/>
                </a:solidFill>
              </a:rPr>
              <a:t>Demonstrated rigorous application of Parallel Gateways (deterministic concurrency), Exclusive Gateways (mutually exclusive routing), and both Interrupting and Non-Interrupting Boundary Events.</a:t>
            </a:r>
          </a:p>
          <a:p>
            <a:pPr>
              <a:spcAft>
                <a:spcPts val="1000"/>
              </a:spcAft>
            </a:pPr>
            <a:r>
              <a:rPr b="1" sz="1050">
                <a:solidFill>
                  <a:srgbClr val="F8FAFC"/>
                </a:solidFill>
              </a:rPr>
              <a:t>✔ Production-Ready Governance: </a:t>
            </a:r>
            <a:r>
              <a:rPr sz="1000">
                <a:solidFill>
                  <a:srgbClr val="94A3B8"/>
                </a:solidFill>
              </a:rPr>
              <a:t>Delivered an auditable, executable BPMN 2.0 XML specification supported by detailed Failure Path Registers and Task Type Justification documentation.</a:t>
            </a:r>
          </a:p>
        </p:txBody>
      </p:sp>
      <p:sp>
        <p:nvSpPr>
          <p:cNvPr id="6" name="Rounded Rectangle 5"/>
          <p:cNvSpPr/>
          <p:nvPr/>
        </p:nvSpPr>
        <p:spPr>
          <a:xfrm>
            <a:off x="7406640" y="1371600"/>
            <a:ext cx="4023360" cy="4937760"/>
          </a:xfrm>
          <a:prstGeom prst="roundRect">
            <a:avLst/>
          </a:prstGeom>
          <a:solidFill>
            <a:srgbClr val="1E3050"/>
          </a:solidFill>
          <a:ln w="12700">
            <a:solidFill>
              <a:srgbClr val="00D2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400"/>
              </a:spcAft>
              <a:defRPr sz="2800" b="1">
                <a:solidFill>
                  <a:srgbClr val="00D2EB"/>
                </a:solidFill>
              </a:defRPr>
            </a:pPr>
            <a:br/>
            <a:br/>
            <a:r>
              <a:t>THANK YOU!</a:t>
            </a:r>
          </a:p>
          <a:p>
            <a:pPr algn="ctr">
              <a:spcAft>
                <a:spcPts val="2000"/>
              </a:spcAft>
              <a:defRPr sz="1600" b="1">
                <a:solidFill>
                  <a:srgbClr val="F8FAFC"/>
                </a:solidFill>
              </a:defRPr>
            </a:pPr>
            <a:r>
              <a:t>Questions &amp; Academic Discussion</a:t>
            </a:r>
          </a:p>
          <a:p>
            <a:pPr algn="ctr">
              <a:defRPr sz="1200">
                <a:solidFill>
                  <a:srgbClr val="94A3B8"/>
                </a:solidFill>
              </a:defRPr>
            </a:pPr>
            <a:r>
              <a:t>Presenter: Mayank Singh</a:t>
            </a:r>
            <a:br/>
            <a:r>
              <a:t>Reg. No: RA2411003010116</a:t>
            </a:r>
            <a:br/>
            <a:r>
              <a:t>Course: Workflow Automation</a:t>
            </a:r>
            <a:br/>
            <a:r>
              <a:t>SRMIST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